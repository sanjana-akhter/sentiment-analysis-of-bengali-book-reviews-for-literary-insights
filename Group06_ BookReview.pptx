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9" r:id="rId4"/>
    <p:sldId id="263" r:id="rId5"/>
    <p:sldId id="280" r:id="rId6"/>
    <p:sldId id="275" r:id="rId7"/>
    <p:sldId id="274" r:id="rId8"/>
    <p:sldId id="276" r:id="rId9"/>
    <p:sldId id="278" r:id="rId10"/>
    <p:sldId id="281" r:id="rId11"/>
    <p:sldId id="282" r:id="rId12"/>
    <p:sldId id="273" r:id="rId13"/>
    <p:sldId id="272" r:id="rId14"/>
    <p:sldId id="277" r:id="rId15"/>
    <p:sldId id="269" r:id="rId16"/>
    <p:sldId id="270" r:id="rId17"/>
  </p:sldIdLst>
  <p:sldSz cx="18288000" cy="10287000"/>
  <p:notesSz cx="6858000" cy="9144000"/>
  <p:embeddedFontLst>
    <p:embeddedFont>
      <p:font typeface="League Spartan" pitchFamily="2" charset="77"/>
      <p:regular r:id="rId19"/>
      <p:bold r:id="rId20"/>
    </p:embeddedFont>
    <p:embeddedFont>
      <p:font typeface="Open Sans" panose="020B0606030504020204" pitchFamily="34" charset="0"/>
      <p:regular r:id="rId21"/>
      <p:bold r:id="rId22"/>
      <p:italic r:id="rId23"/>
      <p:boldItalic r:id="rId24"/>
    </p:embeddedFont>
    <p:embeddedFont>
      <p:font typeface="Open Sans Bold" pitchFamily="2" charset="0"/>
      <p:regular r:id="rId25"/>
      <p:bold r:id="rId26"/>
    </p:embeddedFont>
    <p:embeddedFont>
      <p:font typeface="Poppins" pitchFamily="2" charset="77"/>
      <p:regular r:id="rId27"/>
      <p:bold r:id="rId28"/>
      <p:italic r:id="rId29"/>
      <p:boldItalic r:id="rId30"/>
    </p:embeddedFont>
    <p:embeddedFont>
      <p:font typeface="Segoe UI Black" panose="020B0502040204020203" pitchFamily="34" charset="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autoAdjust="0"/>
    <p:restoredTop sz="94653" autoAdjust="0"/>
  </p:normalViewPr>
  <p:slideViewPr>
    <p:cSldViewPr>
      <p:cViewPr varScale="1">
        <p:scale>
          <a:sx n="75" d="100"/>
          <a:sy n="75" d="100"/>
        </p:scale>
        <p:origin x="54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2DFBB-C9FF-44D3-995B-E38B3EB3CF90}" type="datetimeFigureOut">
              <a:rPr lang="en-US" smtClean="0"/>
              <a:t>3/13/25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9E364-9C36-4EC7-AD7E-9BA996AD7B77}" type="slidenum">
              <a:rPr lang="en-US" smtClean="0"/>
              <a:t>‹#›</a:t>
            </a:fld>
            <a:endParaRPr lang="en-US"/>
          </a:p>
        </p:txBody>
      </p:sp>
    </p:spTree>
    <p:extLst>
      <p:ext uri="{BB962C8B-B14F-4D97-AF65-F5344CB8AC3E}">
        <p14:creationId xmlns:p14="http://schemas.microsoft.com/office/powerpoint/2010/main" val="632234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9E364-9C36-4EC7-AD7E-9BA996AD7B77}" type="slidenum">
              <a:rPr lang="en-US" smtClean="0"/>
              <a:t>4</a:t>
            </a:fld>
            <a:endParaRPr lang="en-US"/>
          </a:p>
        </p:txBody>
      </p:sp>
    </p:spTree>
    <p:extLst>
      <p:ext uri="{BB962C8B-B14F-4D97-AF65-F5344CB8AC3E}">
        <p14:creationId xmlns:p14="http://schemas.microsoft.com/office/powerpoint/2010/main" val="309379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7DDF6-9D04-6799-1D79-D01B103F7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6F823-67C5-B10E-9F92-BD3230D71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D6874-C19B-C8A4-3F90-1A67BFEA45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DC0B56-7721-1B9F-2654-84A4B9ED2154}"/>
              </a:ext>
            </a:extLst>
          </p:cNvPr>
          <p:cNvSpPr>
            <a:spLocks noGrp="1"/>
          </p:cNvSpPr>
          <p:nvPr>
            <p:ph type="sldNum" sz="quarter" idx="5"/>
          </p:nvPr>
        </p:nvSpPr>
        <p:spPr/>
        <p:txBody>
          <a:bodyPr/>
          <a:lstStyle/>
          <a:p>
            <a:fld id="{0799E364-9C36-4EC7-AD7E-9BA996AD7B77}" type="slidenum">
              <a:rPr lang="en-US" smtClean="0"/>
              <a:t>5</a:t>
            </a:fld>
            <a:endParaRPr lang="en-US"/>
          </a:p>
        </p:txBody>
      </p:sp>
    </p:spTree>
    <p:extLst>
      <p:ext uri="{BB962C8B-B14F-4D97-AF65-F5344CB8AC3E}">
        <p14:creationId xmlns:p14="http://schemas.microsoft.com/office/powerpoint/2010/main" val="3775678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1C3F2-A33C-AF28-DA4F-F1BD899AC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75591-D0E2-9227-BEB9-C2D6A8FC0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AE5C5-F15B-9AE2-F6D6-D090C01770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FD098-2232-52CE-1F6D-4C4182182784}"/>
              </a:ext>
            </a:extLst>
          </p:cNvPr>
          <p:cNvSpPr>
            <a:spLocks noGrp="1"/>
          </p:cNvSpPr>
          <p:nvPr>
            <p:ph type="sldNum" sz="quarter" idx="5"/>
          </p:nvPr>
        </p:nvSpPr>
        <p:spPr/>
        <p:txBody>
          <a:bodyPr/>
          <a:lstStyle/>
          <a:p>
            <a:fld id="{0799E364-9C36-4EC7-AD7E-9BA996AD7B77}" type="slidenum">
              <a:rPr lang="en-US" smtClean="0"/>
              <a:t>6</a:t>
            </a:fld>
            <a:endParaRPr lang="en-US"/>
          </a:p>
        </p:txBody>
      </p:sp>
    </p:spTree>
    <p:extLst>
      <p:ext uri="{BB962C8B-B14F-4D97-AF65-F5344CB8AC3E}">
        <p14:creationId xmlns:p14="http://schemas.microsoft.com/office/powerpoint/2010/main" val="355661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C5458-908B-B63C-B3EB-F5E946786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00CED-DF1F-4CC2-94C4-8451DBD95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12108-77A3-58D2-DD9E-987BFDE46F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93F325-8CE2-F589-135C-A326723CAEA5}"/>
              </a:ext>
            </a:extLst>
          </p:cNvPr>
          <p:cNvSpPr>
            <a:spLocks noGrp="1"/>
          </p:cNvSpPr>
          <p:nvPr>
            <p:ph type="sldNum" sz="quarter" idx="5"/>
          </p:nvPr>
        </p:nvSpPr>
        <p:spPr/>
        <p:txBody>
          <a:bodyPr/>
          <a:lstStyle/>
          <a:p>
            <a:fld id="{0799E364-9C36-4EC7-AD7E-9BA996AD7B77}" type="slidenum">
              <a:rPr lang="en-US" smtClean="0"/>
              <a:t>7</a:t>
            </a:fld>
            <a:endParaRPr lang="en-US"/>
          </a:p>
        </p:txBody>
      </p:sp>
    </p:spTree>
    <p:extLst>
      <p:ext uri="{BB962C8B-B14F-4D97-AF65-F5344CB8AC3E}">
        <p14:creationId xmlns:p14="http://schemas.microsoft.com/office/powerpoint/2010/main" val="1756216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9A39-2AF7-E001-880C-D5F5A7979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FA20A-2734-8739-A24D-FD1951EA17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1F297F-E480-EB01-73BD-88BA752159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5EC327-012D-BD8F-6168-1A3CA778C9B5}"/>
              </a:ext>
            </a:extLst>
          </p:cNvPr>
          <p:cNvSpPr>
            <a:spLocks noGrp="1"/>
          </p:cNvSpPr>
          <p:nvPr>
            <p:ph type="sldNum" sz="quarter" idx="5"/>
          </p:nvPr>
        </p:nvSpPr>
        <p:spPr/>
        <p:txBody>
          <a:bodyPr/>
          <a:lstStyle/>
          <a:p>
            <a:fld id="{0799E364-9C36-4EC7-AD7E-9BA996AD7B77}" type="slidenum">
              <a:rPr lang="en-US" smtClean="0"/>
              <a:t>8</a:t>
            </a:fld>
            <a:endParaRPr lang="en-US"/>
          </a:p>
        </p:txBody>
      </p:sp>
    </p:spTree>
    <p:extLst>
      <p:ext uri="{BB962C8B-B14F-4D97-AF65-F5344CB8AC3E}">
        <p14:creationId xmlns:p14="http://schemas.microsoft.com/office/powerpoint/2010/main" val="1221546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FAE06-AB1A-9802-BDBF-ED2ED8E75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7130B-8C72-0A3D-2767-DBB855FE5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F818F-6A14-3EDE-69F5-0637061AF3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2DDE13-50BD-787B-24EF-5672158AE421}"/>
              </a:ext>
            </a:extLst>
          </p:cNvPr>
          <p:cNvSpPr>
            <a:spLocks noGrp="1"/>
          </p:cNvSpPr>
          <p:nvPr>
            <p:ph type="sldNum" sz="quarter" idx="5"/>
          </p:nvPr>
        </p:nvSpPr>
        <p:spPr/>
        <p:txBody>
          <a:bodyPr/>
          <a:lstStyle/>
          <a:p>
            <a:fld id="{0799E364-9C36-4EC7-AD7E-9BA996AD7B77}" type="slidenum">
              <a:rPr lang="en-US" smtClean="0"/>
              <a:t>9</a:t>
            </a:fld>
            <a:endParaRPr lang="en-US"/>
          </a:p>
        </p:txBody>
      </p:sp>
    </p:spTree>
    <p:extLst>
      <p:ext uri="{BB962C8B-B14F-4D97-AF65-F5344CB8AC3E}">
        <p14:creationId xmlns:p14="http://schemas.microsoft.com/office/powerpoint/2010/main" val="3982399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8FE3C-1E44-0C0B-71F6-A49679810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6B805-B837-AFCE-C5AF-836BD5E4E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F78412-D049-4D82-6504-6F41BC1DB9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48C17B-6E62-0FBA-D275-66C82EE893AE}"/>
              </a:ext>
            </a:extLst>
          </p:cNvPr>
          <p:cNvSpPr>
            <a:spLocks noGrp="1"/>
          </p:cNvSpPr>
          <p:nvPr>
            <p:ph type="sldNum" sz="quarter" idx="5"/>
          </p:nvPr>
        </p:nvSpPr>
        <p:spPr/>
        <p:txBody>
          <a:bodyPr/>
          <a:lstStyle/>
          <a:p>
            <a:fld id="{0799E364-9C36-4EC7-AD7E-9BA996AD7B77}" type="slidenum">
              <a:rPr lang="en-US" smtClean="0"/>
              <a:t>10</a:t>
            </a:fld>
            <a:endParaRPr lang="en-US"/>
          </a:p>
        </p:txBody>
      </p:sp>
    </p:spTree>
    <p:extLst>
      <p:ext uri="{BB962C8B-B14F-4D97-AF65-F5344CB8AC3E}">
        <p14:creationId xmlns:p14="http://schemas.microsoft.com/office/powerpoint/2010/main" val="2306826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FFAF8-AAA3-6DBE-517B-CA3DEC816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F4BAB-F686-9BA9-86BE-A7DBD54BC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444CA-8CCD-B895-9D2E-A137145AF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7E488-FAF6-0B4D-18BD-8E02B2ACB6EF}"/>
              </a:ext>
            </a:extLst>
          </p:cNvPr>
          <p:cNvSpPr>
            <a:spLocks noGrp="1"/>
          </p:cNvSpPr>
          <p:nvPr>
            <p:ph type="sldNum" sz="quarter" idx="5"/>
          </p:nvPr>
        </p:nvSpPr>
        <p:spPr/>
        <p:txBody>
          <a:bodyPr/>
          <a:lstStyle/>
          <a:p>
            <a:fld id="{0799E364-9C36-4EC7-AD7E-9BA996AD7B77}" type="slidenum">
              <a:rPr lang="en-US" smtClean="0"/>
              <a:t>11</a:t>
            </a:fld>
            <a:endParaRPr lang="en-US"/>
          </a:p>
        </p:txBody>
      </p:sp>
    </p:spTree>
    <p:extLst>
      <p:ext uri="{BB962C8B-B14F-4D97-AF65-F5344CB8AC3E}">
        <p14:creationId xmlns:p14="http://schemas.microsoft.com/office/powerpoint/2010/main" val="1672795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FFAF8-AAA3-6DBE-517B-CA3DEC816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F4BAB-F686-9BA9-86BE-A7DBD54BC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444CA-8CCD-B895-9D2E-A137145AF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7E488-FAF6-0B4D-18BD-8E02B2ACB6EF}"/>
              </a:ext>
            </a:extLst>
          </p:cNvPr>
          <p:cNvSpPr>
            <a:spLocks noGrp="1"/>
          </p:cNvSpPr>
          <p:nvPr>
            <p:ph type="sldNum" sz="quarter" idx="5"/>
          </p:nvPr>
        </p:nvSpPr>
        <p:spPr/>
        <p:txBody>
          <a:bodyPr/>
          <a:lstStyle/>
          <a:p>
            <a:fld id="{0799E364-9C36-4EC7-AD7E-9BA996AD7B77}" type="slidenum">
              <a:rPr lang="en-US" smtClean="0"/>
              <a:t>12</a:t>
            </a:fld>
            <a:endParaRPr lang="en-US"/>
          </a:p>
        </p:txBody>
      </p:sp>
    </p:spTree>
    <p:extLst>
      <p:ext uri="{BB962C8B-B14F-4D97-AF65-F5344CB8AC3E}">
        <p14:creationId xmlns:p14="http://schemas.microsoft.com/office/powerpoint/2010/main" val="1672795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6E840-3425-CA92-A9F3-0F1086230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7E941-6795-2979-0F92-A587A72F9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1F7EA-AC0F-257F-25E3-7F602F38F2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849F4F-4693-DD4B-86A5-77180F0000A4}"/>
              </a:ext>
            </a:extLst>
          </p:cNvPr>
          <p:cNvSpPr>
            <a:spLocks noGrp="1"/>
          </p:cNvSpPr>
          <p:nvPr>
            <p:ph type="sldNum" sz="quarter" idx="5"/>
          </p:nvPr>
        </p:nvSpPr>
        <p:spPr/>
        <p:txBody>
          <a:bodyPr/>
          <a:lstStyle/>
          <a:p>
            <a:fld id="{0799E364-9C36-4EC7-AD7E-9BA996AD7B77}" type="slidenum">
              <a:rPr lang="en-US" smtClean="0"/>
              <a:t>13</a:t>
            </a:fld>
            <a:endParaRPr lang="en-US"/>
          </a:p>
        </p:txBody>
      </p:sp>
    </p:spTree>
    <p:extLst>
      <p:ext uri="{BB962C8B-B14F-4D97-AF65-F5344CB8AC3E}">
        <p14:creationId xmlns:p14="http://schemas.microsoft.com/office/powerpoint/2010/main" val="1046685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E8E6C-0179-0EE0-7B0B-D84F60CA2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96224-8C9D-656D-337B-21342EF2AA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A6CC6-6DE2-6152-FD6D-A4762C24E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C3991-5A4E-2D29-1148-BE77B08CCA69}"/>
              </a:ext>
            </a:extLst>
          </p:cNvPr>
          <p:cNvSpPr>
            <a:spLocks noGrp="1"/>
          </p:cNvSpPr>
          <p:nvPr>
            <p:ph type="sldNum" sz="quarter" idx="5"/>
          </p:nvPr>
        </p:nvSpPr>
        <p:spPr/>
        <p:txBody>
          <a:bodyPr/>
          <a:lstStyle/>
          <a:p>
            <a:fld id="{0799E364-9C36-4EC7-AD7E-9BA996AD7B77}" type="slidenum">
              <a:rPr lang="en-US" smtClean="0"/>
              <a:t>14</a:t>
            </a:fld>
            <a:endParaRPr lang="en-US"/>
          </a:p>
        </p:txBody>
      </p:sp>
    </p:spTree>
    <p:extLst>
      <p:ext uri="{BB962C8B-B14F-4D97-AF65-F5344CB8AC3E}">
        <p14:creationId xmlns:p14="http://schemas.microsoft.com/office/powerpoint/2010/main" val="3487722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jp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flipH="1" flipV="1">
            <a:off x="12755300" y="567698"/>
            <a:ext cx="5062925" cy="6212178"/>
          </a:xfrm>
          <a:custGeom>
            <a:avLst/>
            <a:gdLst/>
            <a:ahLst/>
            <a:cxnLst/>
            <a:rect l="l" t="t" r="r" b="b"/>
            <a:pathLst>
              <a:path w="5062925" h="6212178">
                <a:moveTo>
                  <a:pt x="5062925" y="6212178"/>
                </a:moveTo>
                <a:lnTo>
                  <a:pt x="0" y="6212178"/>
                </a:lnTo>
                <a:lnTo>
                  <a:pt x="0" y="0"/>
                </a:lnTo>
                <a:lnTo>
                  <a:pt x="5062925" y="0"/>
                </a:lnTo>
                <a:lnTo>
                  <a:pt x="5062925" y="621217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0" y="8657159"/>
            <a:ext cx="4953776" cy="1620297"/>
          </a:xfrm>
          <a:custGeom>
            <a:avLst/>
            <a:gdLst/>
            <a:ahLst/>
            <a:cxnLst/>
            <a:rect l="l" t="t" r="r" b="b"/>
            <a:pathLst>
              <a:path w="4953776" h="1620297">
                <a:moveTo>
                  <a:pt x="0" y="0"/>
                </a:moveTo>
                <a:lnTo>
                  <a:pt x="4953776" y="0"/>
                </a:lnTo>
                <a:lnTo>
                  <a:pt x="4953776" y="1620297"/>
                </a:lnTo>
                <a:lnTo>
                  <a:pt x="0" y="16202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p:cNvGrpSpPr/>
          <p:nvPr/>
        </p:nvGrpSpPr>
        <p:grpSpPr>
          <a:xfrm>
            <a:off x="15891973" y="7924258"/>
            <a:ext cx="3086100" cy="308610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1D3A"/>
            </a:solidFill>
          </p:spPr>
          <p:txBody>
            <a:bodyPr/>
            <a:lstStyle/>
            <a:p>
              <a:endParaRPr 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9" name="TextBox 9"/>
          <p:cNvSpPr txBox="1"/>
          <p:nvPr/>
        </p:nvSpPr>
        <p:spPr>
          <a:xfrm>
            <a:off x="1088374" y="5046427"/>
            <a:ext cx="9334500" cy="4984954"/>
          </a:xfrm>
          <a:prstGeom prst="rect">
            <a:avLst/>
          </a:prstGeom>
        </p:spPr>
        <p:txBody>
          <a:bodyPr wrap="square" lIns="0" tIns="0" rIns="0" bIns="0" rtlCol="0" anchor="t">
            <a:spAutoFit/>
          </a:bodyPr>
          <a:lstStyle/>
          <a:p>
            <a:pPr marL="0" lvl="0" indent="0" algn="l">
              <a:lnSpc>
                <a:spcPts val="4864"/>
              </a:lnSpc>
            </a:pPr>
            <a:r>
              <a:rPr lang="en-US" sz="3474" b="1" dirty="0">
                <a:solidFill>
                  <a:srgbClr val="272727"/>
                </a:solidFill>
                <a:latin typeface="Open Sans Bold"/>
                <a:ea typeface="Open Sans Bold"/>
                <a:cs typeface="Open Sans Bold"/>
                <a:sym typeface="Open Sans Bold"/>
              </a:rPr>
              <a:t>Presented By :</a:t>
            </a:r>
          </a:p>
          <a:p>
            <a:pPr marL="0" lvl="0" indent="0" algn="l">
              <a:lnSpc>
                <a:spcPts val="4864"/>
              </a:lnSpc>
            </a:pPr>
            <a:r>
              <a:rPr lang="en-US" sz="3400" dirty="0" err="1">
                <a:solidFill>
                  <a:srgbClr val="272727"/>
                </a:solidFill>
                <a:latin typeface="Calibri" panose="020F0502020204030204" pitchFamily="34" charset="0"/>
                <a:ea typeface="Open Sans Bold"/>
                <a:cs typeface="Calibri" panose="020F0502020204030204" pitchFamily="34" charset="0"/>
                <a:sym typeface="Open Sans Bold"/>
              </a:rPr>
              <a:t>Israt</a:t>
            </a:r>
            <a:r>
              <a:rPr lang="en-US" sz="3400" dirty="0">
                <a:solidFill>
                  <a:srgbClr val="272727"/>
                </a:solidFill>
                <a:latin typeface="Calibri" panose="020F0502020204030204" pitchFamily="34" charset="0"/>
                <a:ea typeface="Open Sans Bold"/>
                <a:cs typeface="Calibri" panose="020F0502020204030204" pitchFamily="34" charset="0"/>
                <a:sym typeface="Open Sans Bold"/>
              </a:rPr>
              <a:t> Jahan Anika              : 20210104136</a:t>
            </a:r>
          </a:p>
          <a:p>
            <a:pPr marL="0" lvl="0" indent="0" algn="l">
              <a:lnSpc>
                <a:spcPts val="4864"/>
              </a:lnSpc>
            </a:pPr>
            <a:r>
              <a:rPr lang="en-US" sz="3400" dirty="0">
                <a:solidFill>
                  <a:srgbClr val="272727"/>
                </a:solidFill>
                <a:ea typeface="Open Sans Bold"/>
                <a:cs typeface="Open Sans Bold"/>
                <a:sym typeface="Open Sans Bold"/>
              </a:rPr>
              <a:t>Sanjana Akhter 	                : 20210104150</a:t>
            </a:r>
          </a:p>
          <a:p>
            <a:pPr marL="0" lvl="0" indent="0" algn="l">
              <a:lnSpc>
                <a:spcPts val="4864"/>
              </a:lnSpc>
            </a:pPr>
            <a:r>
              <a:rPr lang="en-US" sz="3400" dirty="0">
                <a:solidFill>
                  <a:srgbClr val="272727"/>
                </a:solidFill>
                <a:ea typeface="Open Sans Bold"/>
                <a:cs typeface="Open Sans Bold"/>
                <a:sym typeface="Open Sans Bold"/>
              </a:rPr>
              <a:t>Md. Mostafizur Rahman : 20210104151</a:t>
            </a:r>
          </a:p>
          <a:p>
            <a:pPr marL="0" lvl="0" indent="0" algn="l">
              <a:lnSpc>
                <a:spcPts val="4864"/>
              </a:lnSpc>
            </a:pPr>
            <a:r>
              <a:rPr lang="en-US" sz="3400" dirty="0">
                <a:solidFill>
                  <a:srgbClr val="272727"/>
                </a:solidFill>
                <a:ea typeface="Open Sans Bold"/>
                <a:cs typeface="Open Sans Bold"/>
                <a:sym typeface="Open Sans Bold"/>
              </a:rPr>
              <a:t>Mahajabin Haque 	       : 20210104154</a:t>
            </a:r>
          </a:p>
          <a:p>
            <a:pPr marL="0" lvl="0" indent="0" algn="l">
              <a:lnSpc>
                <a:spcPts val="4864"/>
              </a:lnSpc>
            </a:pPr>
            <a:r>
              <a:rPr lang="en-US" sz="3400" dirty="0" err="1">
                <a:solidFill>
                  <a:srgbClr val="272727"/>
                </a:solidFill>
                <a:ea typeface="Open Sans Bold"/>
                <a:cs typeface="Open Sans Bold"/>
                <a:sym typeface="Open Sans Bold"/>
              </a:rPr>
              <a:t>Masnin</a:t>
            </a:r>
            <a:r>
              <a:rPr lang="en-US" sz="3400" dirty="0">
                <a:solidFill>
                  <a:srgbClr val="272727"/>
                </a:solidFill>
                <a:ea typeface="Open Sans Bold"/>
                <a:cs typeface="Open Sans Bold"/>
                <a:sym typeface="Open Sans Bold"/>
              </a:rPr>
              <a:t> </a:t>
            </a:r>
            <a:r>
              <a:rPr lang="en-US" sz="3400" dirty="0" err="1">
                <a:solidFill>
                  <a:srgbClr val="272727"/>
                </a:solidFill>
                <a:ea typeface="Open Sans Bold"/>
                <a:cs typeface="Open Sans Bold"/>
                <a:sym typeface="Open Sans Bold"/>
              </a:rPr>
              <a:t>Juairia</a:t>
            </a:r>
            <a:r>
              <a:rPr lang="en-US" sz="3400" dirty="0">
                <a:solidFill>
                  <a:srgbClr val="272727"/>
                </a:solidFill>
                <a:ea typeface="Open Sans Bold"/>
                <a:cs typeface="Open Sans Bold"/>
                <a:sym typeface="Open Sans Bold"/>
              </a:rPr>
              <a:t>                   : 20210104157</a:t>
            </a:r>
          </a:p>
          <a:p>
            <a:pPr marL="0" lvl="0" indent="0" algn="l">
              <a:lnSpc>
                <a:spcPts val="4864"/>
              </a:lnSpc>
            </a:pPr>
            <a:endParaRPr lang="en-US" sz="3474" b="1" dirty="0">
              <a:solidFill>
                <a:srgbClr val="272727"/>
              </a:solidFill>
              <a:latin typeface="Open Sans Bold"/>
              <a:ea typeface="Open Sans Bold"/>
              <a:cs typeface="Open Sans Bold"/>
              <a:sym typeface="Open Sans Bold"/>
            </a:endParaRPr>
          </a:p>
          <a:p>
            <a:pPr marL="0" lvl="0" indent="0" algn="l">
              <a:lnSpc>
                <a:spcPts val="4864"/>
              </a:lnSpc>
            </a:pPr>
            <a:r>
              <a:rPr lang="en-US" sz="3474" b="1" dirty="0">
                <a:solidFill>
                  <a:srgbClr val="272727"/>
                </a:solidFill>
                <a:latin typeface="Open Sans Bold"/>
                <a:ea typeface="Open Sans Bold"/>
                <a:cs typeface="Open Sans Bold"/>
                <a:sym typeface="Open Sans Bold"/>
              </a:rPr>
              <a:t>  </a:t>
            </a:r>
          </a:p>
        </p:txBody>
      </p:sp>
      <p:sp>
        <p:nvSpPr>
          <p:cNvPr id="10" name="TextBox 10"/>
          <p:cNvSpPr txBox="1"/>
          <p:nvPr/>
        </p:nvSpPr>
        <p:spPr>
          <a:xfrm>
            <a:off x="2353012" y="2132094"/>
            <a:ext cx="3190751" cy="527132"/>
          </a:xfrm>
          <a:prstGeom prst="rect">
            <a:avLst/>
          </a:prstGeom>
        </p:spPr>
        <p:txBody>
          <a:bodyPr lIns="0" tIns="0" rIns="0" bIns="0" rtlCol="0" anchor="t">
            <a:spAutoFit/>
          </a:bodyPr>
          <a:lstStyle/>
          <a:p>
            <a:pPr marL="0" lvl="0" indent="0" algn="l">
              <a:lnSpc>
                <a:spcPts val="4397"/>
              </a:lnSpc>
              <a:spcBef>
                <a:spcPct val="0"/>
              </a:spcBef>
            </a:pPr>
            <a:endParaRPr lang="en-US" sz="3141" dirty="0">
              <a:solidFill>
                <a:srgbClr val="272727"/>
              </a:solidFill>
              <a:latin typeface="Open Sans"/>
              <a:ea typeface="Open Sans"/>
              <a:cs typeface="Open Sans"/>
              <a:sym typeface="Open Sans"/>
            </a:endParaRPr>
          </a:p>
        </p:txBody>
      </p:sp>
      <p:grpSp>
        <p:nvGrpSpPr>
          <p:cNvPr id="12" name="Group 12"/>
          <p:cNvGrpSpPr/>
          <p:nvPr/>
        </p:nvGrpSpPr>
        <p:grpSpPr>
          <a:xfrm>
            <a:off x="-560090" y="-449186"/>
            <a:ext cx="2153405" cy="215340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1" name="TextBox 5">
            <a:extLst>
              <a:ext uri="{FF2B5EF4-FFF2-40B4-BE49-F238E27FC236}">
                <a16:creationId xmlns:a16="http://schemas.microsoft.com/office/drawing/2014/main" id="{ABC583EF-C45C-1066-47FC-047D85CCE1DB}"/>
              </a:ext>
            </a:extLst>
          </p:cNvPr>
          <p:cNvSpPr txBox="1"/>
          <p:nvPr/>
        </p:nvSpPr>
        <p:spPr>
          <a:xfrm>
            <a:off x="1473940" y="1087524"/>
            <a:ext cx="14258062" cy="2884700"/>
          </a:xfrm>
          <a:prstGeom prst="rect">
            <a:avLst/>
          </a:prstGeom>
        </p:spPr>
        <p:txBody>
          <a:bodyPr wrap="square" lIns="0" tIns="0" rIns="0" bIns="0" rtlCol="0" anchor="t">
            <a:spAutoFit/>
          </a:bodyPr>
          <a:lstStyle/>
          <a:p>
            <a:pPr marL="0" lvl="0" indent="0" algn="ctr">
              <a:lnSpc>
                <a:spcPts val="12000"/>
              </a:lnSpc>
            </a:pPr>
            <a:r>
              <a:rPr lang="en-US" sz="6600" dirty="0">
                <a:solidFill>
                  <a:srgbClr val="2159FF"/>
                </a:solidFill>
                <a:latin typeface="Segoe UI Black" panose="020B0A02040204020203" pitchFamily="34" charset="0"/>
                <a:ea typeface="Segoe UI Black" panose="020B0A02040204020203" pitchFamily="34" charset="0"/>
                <a:cs typeface="League Spartan"/>
                <a:sym typeface="League Spartan"/>
              </a:rPr>
              <a:t>Sentiment Analysis of Bengali Book Reviews for </a:t>
            </a:r>
            <a:r>
              <a:rPr lang="en-US" sz="6600" dirty="0" err="1">
                <a:solidFill>
                  <a:srgbClr val="2159FF"/>
                </a:solidFill>
                <a:latin typeface="Segoe UI Black" panose="020B0A02040204020203" pitchFamily="34" charset="0"/>
                <a:ea typeface="Segoe UI Black" panose="020B0A02040204020203" pitchFamily="34" charset="0"/>
                <a:cs typeface="League Spartan"/>
                <a:sym typeface="League Spartan"/>
              </a:rPr>
              <a:t>Literay</a:t>
            </a:r>
            <a:r>
              <a:rPr lang="en-US" sz="6600" dirty="0">
                <a:solidFill>
                  <a:srgbClr val="2159FF"/>
                </a:solidFill>
                <a:latin typeface="Segoe UI Black" panose="020B0A02040204020203" pitchFamily="34" charset="0"/>
                <a:ea typeface="Segoe UI Black" panose="020B0A02040204020203" pitchFamily="34" charset="0"/>
                <a:cs typeface="League Spartan"/>
                <a:sym typeface="League Spartan"/>
              </a:rPr>
              <a:t> Insight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552710" y="7626574"/>
            <a:ext cx="6118418" cy="2001233"/>
          </a:xfrm>
          <a:custGeom>
            <a:avLst/>
            <a:gdLst/>
            <a:ahLst/>
            <a:cxnLst/>
            <a:rect l="l" t="t" r="r" b="b"/>
            <a:pathLst>
              <a:path w="6118418" h="2001233">
                <a:moveTo>
                  <a:pt x="0" y="0"/>
                </a:moveTo>
                <a:lnTo>
                  <a:pt x="6118419" y="0"/>
                </a:lnTo>
                <a:lnTo>
                  <a:pt x="6118419" y="2001233"/>
                </a:lnTo>
                <a:lnTo>
                  <a:pt x="0" y="20012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5716250" y="-969225"/>
            <a:ext cx="3086100" cy="30861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6" name="Freeform 6"/>
          <p:cNvSpPr/>
          <p:nvPr/>
        </p:nvSpPr>
        <p:spPr>
          <a:xfrm flipH="1" flipV="1">
            <a:off x="12196375" y="928621"/>
            <a:ext cx="5062925" cy="6212178"/>
          </a:xfrm>
          <a:custGeom>
            <a:avLst/>
            <a:gdLst/>
            <a:ahLst/>
            <a:cxnLst/>
            <a:rect l="l" t="t" r="r" b="b"/>
            <a:pathLst>
              <a:path w="5062925" h="6212178">
                <a:moveTo>
                  <a:pt x="5062925" y="6212178"/>
                </a:moveTo>
                <a:lnTo>
                  <a:pt x="0" y="6212178"/>
                </a:lnTo>
                <a:lnTo>
                  <a:pt x="0" y="0"/>
                </a:lnTo>
                <a:lnTo>
                  <a:pt x="5062925" y="0"/>
                </a:lnTo>
                <a:lnTo>
                  <a:pt x="5062925" y="6212178"/>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1400236" y="928621"/>
            <a:ext cx="9036202" cy="1179169"/>
          </a:xfrm>
          <a:prstGeom prst="rect">
            <a:avLst/>
          </a:prstGeom>
        </p:spPr>
        <p:txBody>
          <a:bodyPr wrap="square" lIns="0" tIns="0" rIns="0" bIns="0" rtlCol="0" anchor="t">
            <a:spAutoFit/>
          </a:bodyPr>
          <a:lstStyle/>
          <a:p>
            <a:pPr marL="0" lvl="0" indent="0" algn="l">
              <a:lnSpc>
                <a:spcPts val="10080"/>
              </a:lnSpc>
              <a:spcBef>
                <a:spcPct val="0"/>
              </a:spcBef>
            </a:pPr>
            <a:r>
              <a:rPr lang="en-US" sz="4800" dirty="0">
                <a:solidFill>
                  <a:srgbClr val="272727"/>
                </a:solidFill>
                <a:latin typeface="Segoe UI Black" panose="020B0A02040204020203" pitchFamily="34" charset="0"/>
                <a:ea typeface="Segoe UI Black" panose="020B0A02040204020203" pitchFamily="34" charset="0"/>
                <a:cs typeface="League Spartan"/>
                <a:sym typeface="League Spartan"/>
              </a:rPr>
              <a:t>Table</a:t>
            </a:r>
            <a:r>
              <a:rPr lang="en-US" sz="4800" dirty="0">
                <a:solidFill>
                  <a:srgbClr val="272727"/>
                </a:solidFill>
                <a:latin typeface="League Spartan"/>
                <a:ea typeface="League Spartan"/>
                <a:cs typeface="League Spartan"/>
                <a:sym typeface="League Spartan"/>
              </a:rPr>
              <a:t> of contents</a:t>
            </a:r>
          </a:p>
        </p:txBody>
      </p:sp>
      <p:sp>
        <p:nvSpPr>
          <p:cNvPr id="10" name="TextBox 10"/>
          <p:cNvSpPr txBox="1"/>
          <p:nvPr/>
        </p:nvSpPr>
        <p:spPr>
          <a:xfrm>
            <a:off x="2362200" y="2660426"/>
            <a:ext cx="5450287" cy="5226495"/>
          </a:xfrm>
          <a:prstGeom prst="rect">
            <a:avLst/>
          </a:prstGeom>
        </p:spPr>
        <p:txBody>
          <a:bodyPr lIns="0" tIns="0" rIns="0" bIns="0" rtlCol="0" anchor="t">
            <a:spAutoFit/>
          </a:bodyPr>
          <a:lstStyle/>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Introduction</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Problem Statement</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Research Objective</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Related Works</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Dataset</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Data Preprocessing</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Methodology</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Evaluation Metrics</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Result Analysis</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Challenges and Limitation </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Conclusion</a:t>
            </a:r>
            <a:endParaRPr kumimoji="0" lang="en-US" sz="3200" b="0" i="0" u="none" strike="noStrike" kern="1200" cap="none" spc="0" normalizeH="0" baseline="0" noProof="0" dirty="0">
              <a:ln>
                <a:noFill/>
              </a:ln>
              <a:solidFill>
                <a:srgbClr val="393A38"/>
              </a:solidFill>
              <a:effectLst/>
              <a:uLnTx/>
              <a:uFillTx/>
              <a:ea typeface="Poppins"/>
              <a:cs typeface="Poppins"/>
              <a:sym typeface="Poppins"/>
            </a:endParaRPr>
          </a:p>
          <a:p>
            <a:pPr marL="0" lvl="0" indent="0" algn="l">
              <a:lnSpc>
                <a:spcPts val="3739"/>
              </a:lnSpc>
            </a:pPr>
            <a:endParaRPr lang="en-US" sz="2199" dirty="0">
              <a:solidFill>
                <a:srgbClr val="272727"/>
              </a:solidFill>
              <a:ea typeface="Open Sans"/>
              <a:cs typeface="Open Sans"/>
              <a:sym typeface="Open Sans"/>
            </a:endParaRPr>
          </a:p>
        </p:txBody>
      </p:sp>
      <p:grpSp>
        <p:nvGrpSpPr>
          <p:cNvPr id="11" name="Group 6">
            <a:extLst>
              <a:ext uri="{FF2B5EF4-FFF2-40B4-BE49-F238E27FC236}">
                <a16:creationId xmlns:a16="http://schemas.microsoft.com/office/drawing/2014/main" id="{BD5D3BA5-B58E-8C96-359B-27F6061F95B8}"/>
              </a:ext>
            </a:extLst>
          </p:cNvPr>
          <p:cNvGrpSpPr/>
          <p:nvPr/>
        </p:nvGrpSpPr>
        <p:grpSpPr>
          <a:xfrm>
            <a:off x="11353800" y="2473213"/>
            <a:ext cx="4191000" cy="5340574"/>
            <a:chOff x="0" y="0"/>
            <a:chExt cx="587005" cy="699736"/>
          </a:xfrm>
        </p:grpSpPr>
        <p:sp>
          <p:nvSpPr>
            <p:cNvPr id="12" name="Freeform 7">
              <a:extLst>
                <a:ext uri="{FF2B5EF4-FFF2-40B4-BE49-F238E27FC236}">
                  <a16:creationId xmlns:a16="http://schemas.microsoft.com/office/drawing/2014/main" id="{BA1F0CB7-1D33-D493-7FE8-E068B3D3BB32}"/>
                </a:ext>
              </a:extLst>
            </p:cNvPr>
            <p:cNvSpPr/>
            <p:nvPr/>
          </p:nvSpPr>
          <p:spPr>
            <a:xfrm>
              <a:off x="0" y="0"/>
              <a:ext cx="587005" cy="699736"/>
            </a:xfrm>
            <a:custGeom>
              <a:avLst/>
              <a:gdLst/>
              <a:ahLst/>
              <a:cxnLst/>
              <a:rect l="l" t="t" r="r" b="b"/>
              <a:pathLst>
                <a:path w="587005" h="699736">
                  <a:moveTo>
                    <a:pt x="46996" y="0"/>
                  </a:moveTo>
                  <a:lnTo>
                    <a:pt x="540009" y="0"/>
                  </a:lnTo>
                  <a:cubicBezTo>
                    <a:pt x="565964" y="0"/>
                    <a:pt x="587005" y="21041"/>
                    <a:pt x="587005" y="46996"/>
                  </a:cubicBezTo>
                  <a:lnTo>
                    <a:pt x="587005" y="652740"/>
                  </a:lnTo>
                  <a:cubicBezTo>
                    <a:pt x="587005" y="665204"/>
                    <a:pt x="582054" y="677158"/>
                    <a:pt x="573240" y="685971"/>
                  </a:cubicBezTo>
                  <a:cubicBezTo>
                    <a:pt x="564427" y="694785"/>
                    <a:pt x="552473" y="699736"/>
                    <a:pt x="540009" y="699736"/>
                  </a:cubicBezTo>
                  <a:lnTo>
                    <a:pt x="46996" y="699736"/>
                  </a:lnTo>
                  <a:cubicBezTo>
                    <a:pt x="21041" y="699736"/>
                    <a:pt x="0" y="678695"/>
                    <a:pt x="0" y="652740"/>
                  </a:cubicBezTo>
                  <a:lnTo>
                    <a:pt x="0" y="46996"/>
                  </a:lnTo>
                  <a:cubicBezTo>
                    <a:pt x="0" y="21041"/>
                    <a:pt x="21041" y="0"/>
                    <a:pt x="46996" y="0"/>
                  </a:cubicBezTo>
                  <a:close/>
                </a:path>
              </a:pathLst>
            </a:custGeom>
            <a:blipFill>
              <a:blip r:embed="rId6"/>
              <a:stretch>
                <a:fillRect t="-13312" b="-13312"/>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10" name="AutoShape 10"/>
          <p:cNvSpPr/>
          <p:nvPr/>
        </p:nvSpPr>
        <p:spPr>
          <a:xfrm flipV="1">
            <a:off x="1447801" y="2392160"/>
            <a:ext cx="7924800" cy="35560"/>
          </a:xfrm>
          <a:prstGeom prst="line">
            <a:avLst/>
          </a:prstGeom>
          <a:ln w="19050" cap="flat">
            <a:solidFill>
              <a:srgbClr val="7C7C7C"/>
            </a:solidFill>
            <a:prstDash val="solid"/>
            <a:headEnd type="none" w="sm" len="sm"/>
            <a:tailEnd type="none" w="sm" len="sm"/>
          </a:ln>
        </p:spPr>
        <p:txBody>
          <a:bodyPr/>
          <a:lstStyle/>
          <a:p>
            <a:endParaRPr lang="en-US"/>
          </a:p>
        </p:txBody>
      </p:sp>
      <p:sp>
        <p:nvSpPr>
          <p:cNvPr id="11" name="TextBox 11"/>
          <p:cNvSpPr txBox="1"/>
          <p:nvPr/>
        </p:nvSpPr>
        <p:spPr>
          <a:xfrm>
            <a:off x="1447800" y="1143741"/>
            <a:ext cx="8732159" cy="1180516"/>
          </a:xfrm>
          <a:prstGeom prst="rect">
            <a:avLst/>
          </a:prstGeom>
        </p:spPr>
        <p:txBody>
          <a:bodyPr lIns="0" tIns="0" rIns="0" bIns="0" rtlCol="0" anchor="t">
            <a:spAutoFit/>
          </a:bodyPr>
          <a:lstStyle/>
          <a:p>
            <a:pPr marL="0" lvl="0" indent="0" algn="l">
              <a:lnSpc>
                <a:spcPts val="10080"/>
              </a:lnSpc>
              <a:spcBef>
                <a:spcPct val="0"/>
              </a:spcBef>
            </a:pPr>
            <a:r>
              <a:rPr lang="en-US" sz="7200" dirty="0">
                <a:solidFill>
                  <a:srgbClr val="272727"/>
                </a:solidFill>
                <a:latin typeface="Segoe UI Black" panose="020B0A02040204020203" pitchFamily="34" charset="0"/>
                <a:ea typeface="Segoe UI Black" panose="020B0A02040204020203" pitchFamily="34" charset="0"/>
                <a:cs typeface="League Spartan"/>
                <a:sym typeface="League Spartan"/>
              </a:rPr>
              <a:t>Introduction</a:t>
            </a:r>
          </a:p>
        </p:txBody>
      </p:sp>
      <p:sp>
        <p:nvSpPr>
          <p:cNvPr id="12" name="TextBox 12"/>
          <p:cNvSpPr txBox="1"/>
          <p:nvPr/>
        </p:nvSpPr>
        <p:spPr>
          <a:xfrm>
            <a:off x="1447800" y="3383500"/>
            <a:ext cx="8732159" cy="4889865"/>
          </a:xfrm>
          <a:prstGeom prst="rect">
            <a:avLst/>
          </a:prstGeom>
        </p:spPr>
        <p:txBody>
          <a:bodyPr lIns="0" tIns="0" rIns="0" bIns="0" rtlCol="0" anchor="t">
            <a:spAutoFit/>
          </a:bodyPr>
          <a:lstStyle/>
          <a:p>
            <a:pPr algn="just"/>
            <a:r>
              <a:rPr lang="en-US" sz="2800" dirty="0"/>
              <a:t>Sentiment analysis of Bengali text is becoming more popular because of the growing number of online book reviews. However, it is difficult to analyze Bengali sentiment because the language is complex and there aren’t enough high-quality datasets. Bengali also has many meanings that depend on context, which makes it harder to classify sentiment accurately.</a:t>
            </a:r>
          </a:p>
          <a:p>
            <a:pPr marL="0" lvl="0" indent="0" algn="just">
              <a:lnSpc>
                <a:spcPts val="3739"/>
              </a:lnSpc>
            </a:pPr>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0" lvl="0" indent="0" algn="just">
              <a:lnSpc>
                <a:spcPts val="3739"/>
              </a:lnSpc>
            </a:pPr>
            <a:r>
              <a:rPr lang="en-US" sz="2800" dirty="0"/>
              <a:t>This research focuses on using </a:t>
            </a:r>
            <a:r>
              <a:rPr lang="en-US" sz="2800" b="1" dirty="0"/>
              <a:t>transformer-based models</a:t>
            </a:r>
            <a:r>
              <a:rPr lang="en-US" sz="2800" dirty="0"/>
              <a:t>, including </a:t>
            </a:r>
            <a:r>
              <a:rPr lang="en-US" sz="2800" b="1" dirty="0" err="1"/>
              <a:t>BanglaBERT</a:t>
            </a:r>
            <a:r>
              <a:rPr lang="en-US" sz="2800" dirty="0"/>
              <a:t>, </a:t>
            </a:r>
            <a:r>
              <a:rPr lang="en-US" sz="2800" b="1" dirty="0" err="1"/>
              <a:t>mBERT</a:t>
            </a:r>
            <a:r>
              <a:rPr lang="en-US" sz="2800" b="1" dirty="0"/>
              <a:t> (Cased and Uncased)</a:t>
            </a:r>
            <a:r>
              <a:rPr lang="en-US" sz="2800" dirty="0"/>
              <a:t>, and </a:t>
            </a:r>
            <a:r>
              <a:rPr lang="en-US" sz="2800" b="1" dirty="0"/>
              <a:t>XLM-</a:t>
            </a:r>
            <a:r>
              <a:rPr lang="en-US" sz="2800" b="1" dirty="0" err="1"/>
              <a:t>RoBERTa</a:t>
            </a:r>
            <a:r>
              <a:rPr lang="en-US" sz="2800" dirty="0"/>
              <a:t>, to analyze sentiment in Bengali book reviews</a:t>
            </a:r>
            <a:endParaRPr lang="en-US" sz="2600" dirty="0">
              <a:solidFill>
                <a:srgbClr val="272727"/>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grpSp>
        <p:nvGrpSpPr>
          <p:cNvPr id="13" name="Group 13"/>
          <p:cNvGrpSpPr/>
          <p:nvPr/>
        </p:nvGrpSpPr>
        <p:grpSpPr>
          <a:xfrm>
            <a:off x="-1448028" y="8001888"/>
            <a:ext cx="3421829" cy="342182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6" name="Rectangle 1">
            <a:extLst>
              <a:ext uri="{FF2B5EF4-FFF2-40B4-BE49-F238E27FC236}">
                <a16:creationId xmlns:a16="http://schemas.microsoft.com/office/drawing/2014/main" id="{93B5DD11-C916-AECE-BF1D-DF4F2ECC69B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2">
            <a:extLst>
              <a:ext uri="{FF2B5EF4-FFF2-40B4-BE49-F238E27FC236}">
                <a16:creationId xmlns:a16="http://schemas.microsoft.com/office/drawing/2014/main" id="{85333914-4974-8231-0DD5-9F050D453131}"/>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9" name="Picture 18">
            <a:extLst>
              <a:ext uri="{FF2B5EF4-FFF2-40B4-BE49-F238E27FC236}">
                <a16:creationId xmlns:a16="http://schemas.microsoft.com/office/drawing/2014/main" id="{3AEE10AC-44B5-A06D-7AEE-C4E01C17C4A6}"/>
              </a:ext>
            </a:extLst>
          </p:cNvPr>
          <p:cNvPicPr>
            <a:picLocks noChangeAspect="1"/>
          </p:cNvPicPr>
          <p:nvPr/>
        </p:nvPicPr>
        <p:blipFill>
          <a:blip r:embed="rId2"/>
          <a:stretch>
            <a:fillRect/>
          </a:stretch>
        </p:blipFill>
        <p:spPr>
          <a:xfrm>
            <a:off x="11963401" y="2427720"/>
            <a:ext cx="4876800" cy="4876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14" name="Group 14"/>
          <p:cNvGrpSpPr/>
          <p:nvPr/>
        </p:nvGrpSpPr>
        <p:grpSpPr>
          <a:xfrm>
            <a:off x="-717638" y="7715250"/>
            <a:ext cx="3086100" cy="308610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p:cNvSpPr txBox="1"/>
          <p:nvPr/>
        </p:nvSpPr>
        <p:spPr>
          <a:xfrm>
            <a:off x="1600200" y="836994"/>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Problem Statement</a:t>
            </a:r>
          </a:p>
        </p:txBody>
      </p:sp>
      <p:sp>
        <p:nvSpPr>
          <p:cNvPr id="35" name="TextBox 34">
            <a:extLst>
              <a:ext uri="{FF2B5EF4-FFF2-40B4-BE49-F238E27FC236}">
                <a16:creationId xmlns:a16="http://schemas.microsoft.com/office/drawing/2014/main" id="{6C4FCADA-360B-3AD1-7FE4-5F241C53005A}"/>
              </a:ext>
            </a:extLst>
          </p:cNvPr>
          <p:cNvSpPr txBox="1"/>
          <p:nvPr/>
        </p:nvSpPr>
        <p:spPr>
          <a:xfrm>
            <a:off x="2514600" y="2487210"/>
            <a:ext cx="9502140" cy="6801862"/>
          </a:xfrm>
          <a:prstGeom prst="rect">
            <a:avLst/>
          </a:prstGeom>
          <a:noFill/>
        </p:spPr>
        <p:txBody>
          <a:bodyPr wrap="square">
            <a:spAutoFit/>
          </a:bodyPr>
          <a:lstStyle/>
          <a:p>
            <a:pPr marL="342900" indent="-342900" algn="just">
              <a:buFont typeface="Arial" panose="020B0604020202020204" pitchFamily="34" charset="0"/>
              <a:buChar char="•"/>
            </a:pPr>
            <a:r>
              <a:rPr lang="en-US" sz="2800" dirty="0"/>
              <a:t>Sentiment analysis of Bengali book reviews is challenging due to the complexity of the language and limited high-quality datasets.</a:t>
            </a:r>
          </a:p>
          <a:p>
            <a:pPr marL="342900" indent="-342900" algn="just">
              <a:buFont typeface="Arial" panose="020B0604020202020204" pitchFamily="34" charset="0"/>
              <a:buChar char="•"/>
            </a:pPr>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342900" indent="-342900" algn="just">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It </a:t>
            </a:r>
            <a:r>
              <a:rPr lang="en-US" sz="2800" dirty="0"/>
              <a:t>contains nuanced expressions, metaphors, and context-dependent meanings, making it difficult for traditional models to accurately capture sentiment.</a:t>
            </a:r>
          </a:p>
          <a:p>
            <a:pPr marL="342900" indent="-342900" algn="just">
              <a:buFont typeface="Arial" panose="020B0604020202020204" pitchFamily="34" charset="0"/>
              <a:buChar char="•"/>
            </a:pPr>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342900" indent="-342900" algn="just">
              <a:buFont typeface="Arial" panose="020B0604020202020204" pitchFamily="34" charset="0"/>
              <a:buChar char="•"/>
            </a:pPr>
            <a:r>
              <a:rPr lang="en-US" sz="2800" dirty="0"/>
              <a:t>Traditional machine learning models fail to capture the deep semantic meaning of Bengali text.</a:t>
            </a:r>
          </a:p>
          <a:p>
            <a:pPr marL="342900" indent="-342900" algn="just">
              <a:buFont typeface="Arial" panose="020B0604020202020204" pitchFamily="34" charset="0"/>
              <a:buChar char="•"/>
            </a:pPr>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342900" indent="-342900" algn="just">
              <a:buFont typeface="Arial" panose="020B0604020202020204" pitchFamily="34" charset="0"/>
              <a:buChar char="•"/>
            </a:pPr>
            <a:r>
              <a:rPr lang="en-US" sz="2800" dirty="0"/>
              <a:t>Data preprocessing is challenging due to mixed scripts, including Bengali and English characters. </a:t>
            </a:r>
          </a:p>
          <a:p>
            <a:pPr algn="just"/>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342900" indent="-342900" algn="just">
              <a:buFont typeface="Arial" panose="020B0604020202020204" pitchFamily="34" charset="0"/>
              <a:buChar char="•"/>
            </a:pPr>
            <a:r>
              <a:rPr lang="en-US" sz="2600" dirty="0">
                <a:latin typeface="+mj-lt"/>
                <a:ea typeface="Calibri Light" panose="020F0302020204030204" pitchFamily="34" charset="0"/>
                <a:cs typeface="Calibri Light" panose="020F0302020204030204" pitchFamily="34" charset="0"/>
              </a:rPr>
              <a:t>Transformer-based models, can improve detection accuracy and help mitigate this issue.</a:t>
            </a:r>
          </a:p>
        </p:txBody>
      </p:sp>
      <p:pic>
        <p:nvPicPr>
          <p:cNvPr id="2" name="Picture 1">
            <a:extLst>
              <a:ext uri="{FF2B5EF4-FFF2-40B4-BE49-F238E27FC236}">
                <a16:creationId xmlns:a16="http://schemas.microsoft.com/office/drawing/2014/main" id="{BED1D079-3F89-343B-5C79-71E5C9280E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96800" y="2705100"/>
            <a:ext cx="4038600" cy="4038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7E5E9-BCD5-6814-D288-EED0992339EC}"/>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75CA3F3D-760F-7F74-96CA-7A1B42634469}"/>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650643B5-6426-8263-9ED9-261126555A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a:extLst>
                <a:ext uri="{FF2B5EF4-FFF2-40B4-BE49-F238E27FC236}">
                  <a16:creationId xmlns:a16="http://schemas.microsoft.com/office/drawing/2014/main" id="{A064C8BC-6E16-BEC6-28CA-1A1BA4D347F5}"/>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DE104D11-0D32-C712-BDAF-01DF8F99EEBB}"/>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a:extLst>
              <a:ext uri="{FF2B5EF4-FFF2-40B4-BE49-F238E27FC236}">
                <a16:creationId xmlns:a16="http://schemas.microsoft.com/office/drawing/2014/main" id="{CECA87CE-F5DE-20B9-0CA3-A636B7455473}"/>
              </a:ext>
            </a:extLst>
          </p:cNvPr>
          <p:cNvSpPr txBox="1"/>
          <p:nvPr/>
        </p:nvSpPr>
        <p:spPr>
          <a:xfrm>
            <a:off x="1600200" y="1141602"/>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Research Objective</a:t>
            </a:r>
          </a:p>
        </p:txBody>
      </p:sp>
      <p:sp>
        <p:nvSpPr>
          <p:cNvPr id="35" name="TextBox 34">
            <a:extLst>
              <a:ext uri="{FF2B5EF4-FFF2-40B4-BE49-F238E27FC236}">
                <a16:creationId xmlns:a16="http://schemas.microsoft.com/office/drawing/2014/main" id="{4A1728F8-1680-C562-0359-184E4BD22DB3}"/>
              </a:ext>
            </a:extLst>
          </p:cNvPr>
          <p:cNvSpPr txBox="1"/>
          <p:nvPr/>
        </p:nvSpPr>
        <p:spPr>
          <a:xfrm>
            <a:off x="2590800" y="3086100"/>
            <a:ext cx="13639800" cy="4832092"/>
          </a:xfrm>
          <a:prstGeom prst="rect">
            <a:avLst/>
          </a:prstGeom>
          <a:noFill/>
        </p:spPr>
        <p:txBody>
          <a:bodyPr wrap="square">
            <a:spAutoFit/>
          </a:bodyPr>
          <a:lstStyle/>
          <a:p>
            <a:pPr marL="457200" indent="-457200" algn="just">
              <a:buFont typeface="Arial" panose="020B0604020202020204" pitchFamily="34" charset="0"/>
              <a:buChar char="•"/>
            </a:pPr>
            <a:r>
              <a:rPr lang="en-US" sz="2800" b="1" dirty="0"/>
              <a:t>Analyze</a:t>
            </a:r>
            <a:r>
              <a:rPr lang="en-US" sz="2800" dirty="0"/>
              <a:t> the rise of Bengali book reviews on online platforms and their impact on reader sentiment.</a:t>
            </a:r>
          </a:p>
          <a:p>
            <a:pPr marL="457200" indent="-457200" algn="just">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buFont typeface="Arial" panose="020B0604020202020204" pitchFamily="34" charset="0"/>
              <a:buChar char="•"/>
            </a:pPr>
            <a:r>
              <a:rPr lang="en-US" sz="2800" b="1" dirty="0"/>
              <a:t>Develop</a:t>
            </a:r>
            <a:r>
              <a:rPr lang="en-US" sz="2800" dirty="0"/>
              <a:t> a sentiment analysis model using transformer-based models (</a:t>
            </a:r>
            <a:r>
              <a:rPr lang="en-US" sz="2800" dirty="0" err="1"/>
              <a:t>BanglaBERT</a:t>
            </a:r>
            <a:r>
              <a:rPr lang="en-US" sz="2800" dirty="0"/>
              <a:t>, </a:t>
            </a:r>
            <a:r>
              <a:rPr lang="en-US" sz="2800" dirty="0" err="1"/>
              <a:t>mBERT</a:t>
            </a:r>
            <a:r>
              <a:rPr lang="en-US" sz="2800" dirty="0"/>
              <a:t>, XLM-R).</a:t>
            </a:r>
          </a:p>
          <a:p>
            <a:pPr marL="457200" indent="-457200" algn="just">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buFont typeface="Arial" panose="020B0604020202020204" pitchFamily="34" charset="0"/>
              <a:buChar char="•"/>
            </a:pPr>
            <a:r>
              <a:rPr lang="en-US" sz="2800" b="1" dirty="0"/>
              <a:t>Compare</a:t>
            </a:r>
            <a:r>
              <a:rPr lang="en-US" sz="2800" dirty="0"/>
              <a:t> the performance of transformer models (</a:t>
            </a:r>
            <a:r>
              <a:rPr lang="en-US" sz="2800" dirty="0" err="1"/>
              <a:t>BanglaBERT</a:t>
            </a:r>
            <a:r>
              <a:rPr lang="en-US" sz="2800" dirty="0"/>
              <a:t>, </a:t>
            </a:r>
            <a:r>
              <a:rPr lang="en-US" sz="2800" dirty="0" err="1"/>
              <a:t>mBERT</a:t>
            </a:r>
            <a:r>
              <a:rPr lang="en-US" sz="2800" dirty="0"/>
              <a:t>, XLM-R) in accurately capturing sentiment nuances in Bengali text.</a:t>
            </a:r>
          </a:p>
          <a:p>
            <a:pPr marL="457200" indent="-457200" algn="just">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buFont typeface="Arial" panose="020B0604020202020204" pitchFamily="34" charset="0"/>
              <a:buChar char="•"/>
            </a:pPr>
            <a:r>
              <a:rPr lang="en-US" sz="2800" b="1" dirty="0"/>
              <a:t>Evaluate</a:t>
            </a:r>
            <a:r>
              <a:rPr lang="en-US" sz="2800" dirty="0"/>
              <a:t> model performance by addressing dataset imbalance and improving preprocessing techniques to enhance sentiment classification.</a:t>
            </a:r>
            <a:endParaRPr lang="en-US"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13603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EE0407D0-FFA6-FA24-F5D0-890F4EDEBBBD}"/>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C62AA101-F422-2126-1793-F7B8623F5631}"/>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B182FC70-278B-3C82-41F2-AF0748D0EE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a:extLst>
                <a:ext uri="{FF2B5EF4-FFF2-40B4-BE49-F238E27FC236}">
                  <a16:creationId xmlns:a16="http://schemas.microsoft.com/office/drawing/2014/main" id="{938C5AE5-E68D-3CAD-BFFC-AA43776915E4}"/>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4AC69D2B-5DD2-FD59-C3A3-12ED5F6F6409}"/>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a:extLst>
              <a:ext uri="{FF2B5EF4-FFF2-40B4-BE49-F238E27FC236}">
                <a16:creationId xmlns:a16="http://schemas.microsoft.com/office/drawing/2014/main" id="{91A0CFA3-EFBB-DD68-9DB0-073D7DE315BA}"/>
              </a:ext>
            </a:extLst>
          </p:cNvPr>
          <p:cNvSpPr txBox="1"/>
          <p:nvPr/>
        </p:nvSpPr>
        <p:spPr>
          <a:xfrm>
            <a:off x="2590800" y="536631"/>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Related Works</a:t>
            </a:r>
          </a:p>
        </p:txBody>
      </p:sp>
      <p:sp>
        <p:nvSpPr>
          <p:cNvPr id="35" name="TextBox 34">
            <a:extLst>
              <a:ext uri="{FF2B5EF4-FFF2-40B4-BE49-F238E27FC236}">
                <a16:creationId xmlns:a16="http://schemas.microsoft.com/office/drawing/2014/main" id="{55BF13BB-9603-2EC3-799D-7A14A7339574}"/>
              </a:ext>
            </a:extLst>
          </p:cNvPr>
          <p:cNvSpPr txBox="1"/>
          <p:nvPr/>
        </p:nvSpPr>
        <p:spPr>
          <a:xfrm>
            <a:off x="2079140" y="2170825"/>
            <a:ext cx="14249400" cy="6555641"/>
          </a:xfrm>
          <a:prstGeom prst="rect">
            <a:avLst/>
          </a:prstGeom>
          <a:noFill/>
        </p:spPr>
        <p:txBody>
          <a:bodyPr wrap="square">
            <a:spAutoFit/>
          </a:bodyPr>
          <a:lstStyle/>
          <a:p>
            <a:pPr lvl="1" algn="just">
              <a:buFont typeface="Arial" panose="020B0604020202020204" pitchFamily="34" charset="0"/>
              <a:buChar char="•"/>
            </a:pPr>
            <a:r>
              <a:rPr lang="en-US" sz="2800" b="1" dirty="0"/>
              <a:t>Kabir et al. (2023):</a:t>
            </a:r>
            <a:r>
              <a:rPr lang="en-US" sz="2800" dirty="0"/>
              <a:t> Introduced </a:t>
            </a:r>
            <a:r>
              <a:rPr lang="en-US" sz="2800" b="1" dirty="0" err="1"/>
              <a:t>BanglaBook</a:t>
            </a:r>
            <a:r>
              <a:rPr lang="en-US" sz="2800" dirty="0"/>
              <a:t>, a large-scale dataset for sentiment analysis of Bengali book reviews. </a:t>
            </a:r>
            <a:r>
              <a:rPr lang="en-US" sz="2800" dirty="0" err="1"/>
              <a:t>BanglaBERT</a:t>
            </a:r>
            <a:r>
              <a:rPr lang="en-US" sz="2800" dirty="0"/>
              <a:t> achieved the highest accuracy of </a:t>
            </a:r>
            <a:r>
              <a:rPr lang="en-US" sz="2800" b="1" dirty="0"/>
              <a:t>88.5%</a:t>
            </a:r>
            <a:r>
              <a:rPr lang="en-US" sz="2800" dirty="0"/>
              <a:t> for sentiment classification.</a:t>
            </a:r>
            <a:endParaRPr lang="en-US" sz="2800" dirty="0">
              <a:latin typeface="Open Sans" panose="020B0606030504020204" pitchFamily="34" charset="0"/>
              <a:ea typeface="Open Sans" panose="020B0606030504020204" pitchFamily="34" charset="0"/>
              <a:cs typeface="Open Sans" panose="020B0606030504020204" pitchFamily="34" charset="0"/>
            </a:endParaRPr>
          </a:p>
          <a:p>
            <a:pPr lvl="1" algn="just">
              <a:buFont typeface="Arial" panose="020B0604020202020204" pitchFamily="34" charset="0"/>
              <a:buChar char="•"/>
            </a:pPr>
            <a:r>
              <a:rPr lang="en-US" sz="2800" b="1" dirty="0"/>
              <a:t>Hira et al. (2022):</a:t>
            </a:r>
            <a:r>
              <a:rPr lang="en-US" sz="2800" dirty="0"/>
              <a:t> Conducted a systematic review of sentiment analysis from Bengali text using NLP. Transformer-based models consistently outperformed traditional machine learning approaches.</a:t>
            </a:r>
            <a:endParaRPr lang="en-US" sz="2800" dirty="0">
              <a:latin typeface="Open Sans" panose="020B0606030504020204" pitchFamily="34" charset="0"/>
              <a:ea typeface="Open Sans" panose="020B0606030504020204" pitchFamily="34" charset="0"/>
              <a:cs typeface="Open Sans" panose="020B0606030504020204" pitchFamily="34" charset="0"/>
            </a:endParaRPr>
          </a:p>
          <a:p>
            <a:pPr lvl="1" algn="just">
              <a:buFont typeface="Arial" panose="020B0604020202020204" pitchFamily="34" charset="0"/>
              <a:buChar char="•"/>
            </a:pPr>
            <a:r>
              <a:rPr lang="en-US" sz="2800" b="1" dirty="0"/>
              <a:t>Khan et al. (2022):</a:t>
            </a:r>
            <a:r>
              <a:rPr lang="en-US" sz="2800" dirty="0"/>
              <a:t> Collected </a:t>
            </a:r>
            <a:r>
              <a:rPr lang="en-US" sz="2800" b="1" dirty="0"/>
              <a:t>5,500 Bengali book reviews</a:t>
            </a:r>
            <a:r>
              <a:rPr lang="en-US" sz="2800" dirty="0"/>
              <a:t> and tested models like AdaBoost, Decision Tree, Random Forest, SVM, and </a:t>
            </a:r>
            <a:r>
              <a:rPr lang="en-US" sz="2800" dirty="0" err="1"/>
              <a:t>LightGBM</a:t>
            </a:r>
            <a:r>
              <a:rPr lang="en-US" sz="2800" dirty="0"/>
              <a:t>. </a:t>
            </a:r>
            <a:r>
              <a:rPr lang="en-US" sz="2800" b="1" dirty="0"/>
              <a:t>Random Forest</a:t>
            </a:r>
            <a:r>
              <a:rPr lang="en-US" sz="2800" dirty="0"/>
              <a:t> achieved the highest accuracy of </a:t>
            </a:r>
            <a:r>
              <a:rPr lang="en-US" sz="2800" b="1" dirty="0"/>
              <a:t>99.39%</a:t>
            </a:r>
            <a:r>
              <a:rPr lang="en-US" sz="2800" dirty="0"/>
              <a:t>.</a:t>
            </a:r>
            <a:endParaRPr lang="en-US" sz="2800" dirty="0">
              <a:latin typeface="Open Sans" panose="020B0606030504020204" pitchFamily="34" charset="0"/>
              <a:ea typeface="Open Sans" panose="020B0606030504020204" pitchFamily="34" charset="0"/>
              <a:cs typeface="Open Sans" panose="020B0606030504020204" pitchFamily="34" charset="0"/>
            </a:endParaRPr>
          </a:p>
          <a:p>
            <a:pPr lvl="1" algn="just">
              <a:buFont typeface="Arial" panose="020B0604020202020204" pitchFamily="34" charset="0"/>
              <a:buChar char="•"/>
            </a:pPr>
            <a:r>
              <a:rPr lang="en-US" sz="2800" b="1" dirty="0"/>
              <a:t>Gobinda Chandra Sarker et al. (2022):</a:t>
            </a:r>
            <a:r>
              <a:rPr lang="en-US" sz="2800" dirty="0"/>
              <a:t> Developed a dataset of </a:t>
            </a:r>
            <a:r>
              <a:rPr lang="en-US" sz="2800" b="1" dirty="0"/>
              <a:t>5,189 Bangla book reviews</a:t>
            </a:r>
            <a:r>
              <a:rPr lang="en-US" sz="2800" dirty="0"/>
              <a:t> and tested multiple models (LSTM, </a:t>
            </a:r>
            <a:r>
              <a:rPr lang="en-US" sz="2800" dirty="0" err="1"/>
              <a:t>BiLSTM</a:t>
            </a:r>
            <a:r>
              <a:rPr lang="en-US" sz="2800" dirty="0"/>
              <a:t>, CNN-LSTM, CNN-</a:t>
            </a:r>
            <a:r>
              <a:rPr lang="en-US" sz="2800" dirty="0" err="1"/>
              <a:t>BiLSTM</a:t>
            </a:r>
            <a:r>
              <a:rPr lang="en-US" sz="2800" dirty="0"/>
              <a:t>) and transformer models (</a:t>
            </a:r>
            <a:r>
              <a:rPr lang="en-US" sz="2800" dirty="0" err="1"/>
              <a:t>mBERT</a:t>
            </a:r>
            <a:r>
              <a:rPr lang="en-US" sz="2800" dirty="0"/>
              <a:t>, </a:t>
            </a:r>
            <a:r>
              <a:rPr lang="en-US" sz="2800" dirty="0" err="1"/>
              <a:t>BanglaBERT</a:t>
            </a:r>
            <a:r>
              <a:rPr lang="en-US" sz="2800" dirty="0"/>
              <a:t>, XLM-R). XLM-R showed the best performance with an F1 score of </a:t>
            </a:r>
            <a:r>
              <a:rPr lang="en-US" sz="2800" b="1" dirty="0"/>
              <a:t>88.95%</a:t>
            </a:r>
            <a:r>
              <a:rPr lang="en-US" sz="2800" dirty="0"/>
              <a:t>.</a:t>
            </a:r>
          </a:p>
          <a:p>
            <a:pPr lvl="1" algn="just">
              <a:buFont typeface="Arial" panose="020B0604020202020204" pitchFamily="34" charset="0"/>
              <a:buChar char="•"/>
            </a:pPr>
            <a:r>
              <a:rPr lang="en-US" sz="2800" b="1" dirty="0"/>
              <a:t> Khatun et al. (2022):</a:t>
            </a:r>
            <a:r>
              <a:rPr lang="en-US" sz="2800" dirty="0"/>
              <a:t> Analyzed </a:t>
            </a:r>
            <a:r>
              <a:rPr lang="en-US" sz="2800" b="1" dirty="0"/>
              <a:t>10,000 Bengali book reviews</a:t>
            </a:r>
            <a:r>
              <a:rPr lang="en-US" sz="2800" dirty="0"/>
              <a:t> using Decision Tree, Random     Forest, and CNN. Random Forest provided the best accuracy, reaching </a:t>
            </a:r>
            <a:r>
              <a:rPr lang="en-US" sz="2800" b="1" dirty="0"/>
              <a:t>85%</a:t>
            </a:r>
            <a:r>
              <a:rPr lang="en-US" sz="2800" dirty="0"/>
              <a:t>.</a:t>
            </a:r>
            <a:endParaRPr lang="en-US" sz="2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2978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763AC35A-CA52-A778-5FE2-21B9C33D2918}"/>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E60ED2BA-1688-CD7A-D453-84D85BEE77F0}"/>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B29BCA35-02A4-DC87-1944-5A90C454800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a:extLst>
                <a:ext uri="{FF2B5EF4-FFF2-40B4-BE49-F238E27FC236}">
                  <a16:creationId xmlns:a16="http://schemas.microsoft.com/office/drawing/2014/main" id="{B7F8A9A5-851E-3554-4150-BC59C8EBB2CF}"/>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CBF26F03-AAFC-BE27-5500-60549B16D35D}"/>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a:extLst>
              <a:ext uri="{FF2B5EF4-FFF2-40B4-BE49-F238E27FC236}">
                <a16:creationId xmlns:a16="http://schemas.microsoft.com/office/drawing/2014/main" id="{6C4861F9-5D53-4DEA-FCCF-F349D251B69F}"/>
              </a:ext>
            </a:extLst>
          </p:cNvPr>
          <p:cNvSpPr txBox="1"/>
          <p:nvPr/>
        </p:nvSpPr>
        <p:spPr>
          <a:xfrm>
            <a:off x="2109620" y="1112883"/>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Dataset</a:t>
            </a:r>
          </a:p>
        </p:txBody>
      </p:sp>
      <p:sp>
        <p:nvSpPr>
          <p:cNvPr id="35" name="TextBox 34">
            <a:extLst>
              <a:ext uri="{FF2B5EF4-FFF2-40B4-BE49-F238E27FC236}">
                <a16:creationId xmlns:a16="http://schemas.microsoft.com/office/drawing/2014/main" id="{13E49938-B53C-0D0F-8B07-C36BD3457631}"/>
              </a:ext>
            </a:extLst>
          </p:cNvPr>
          <p:cNvSpPr txBox="1"/>
          <p:nvPr/>
        </p:nvSpPr>
        <p:spPr>
          <a:xfrm>
            <a:off x="1828800" y="2763832"/>
            <a:ext cx="10439400" cy="6186309"/>
          </a:xfrm>
          <a:prstGeom prst="rect">
            <a:avLst/>
          </a:prstGeom>
          <a:noFill/>
        </p:spPr>
        <p:txBody>
          <a:bodyPr wrap="square">
            <a:spAutoFit/>
          </a:bodyPr>
          <a:lstStyle/>
          <a:p>
            <a:pPr marL="457200" indent="-457200" algn="just">
              <a:buFont typeface="Arial" panose="020B0604020202020204" pitchFamily="34" charset="0"/>
              <a:buChar char="•"/>
            </a:pPr>
            <a:r>
              <a:rPr lang="en-US" sz="3600" dirty="0"/>
              <a:t>Contains </a:t>
            </a:r>
            <a:r>
              <a:rPr lang="en-US" sz="3600" b="1" dirty="0"/>
              <a:t>110,645</a:t>
            </a:r>
            <a:r>
              <a:rPr lang="en-US" sz="3600" dirty="0"/>
              <a:t> Bengali book reviews with sentiment labels ("positive," "negative," and "neutral").</a:t>
            </a:r>
          </a:p>
          <a:p>
            <a:pPr marL="457200" indent="-457200" algn="just">
              <a:buFont typeface="Arial" panose="020B0604020202020204" pitchFamily="34" charset="0"/>
              <a:buChar char="•"/>
            </a:pPr>
            <a:r>
              <a:rPr lang="en-US" sz="3600" dirty="0"/>
              <a:t> </a:t>
            </a:r>
            <a:r>
              <a:rPr lang="en-US" sz="3600" b="1" dirty="0"/>
              <a:t>Imbalanced dataset</a:t>
            </a:r>
            <a:r>
              <a:rPr lang="en-US" sz="3600" dirty="0"/>
              <a:t> (99,110 positive, 6,772 negative, 4,763 neutral). </a:t>
            </a:r>
          </a:p>
          <a:p>
            <a:pPr algn="just"/>
            <a:endParaRPr lang="en-US" sz="3600" dirty="0"/>
          </a:p>
          <a:p>
            <a:pPr marL="457200" indent="-457200" algn="just">
              <a:buFont typeface="Arial" panose="020B0604020202020204" pitchFamily="34" charset="0"/>
              <a:buChar char="•"/>
            </a:pPr>
            <a:r>
              <a:rPr lang="en-US" sz="3600" dirty="0"/>
              <a:t>After resampling, the final dataset contains </a:t>
            </a:r>
            <a:r>
              <a:rPr lang="en-US" sz="3600" b="1" dirty="0"/>
              <a:t>21,446 samples</a:t>
            </a:r>
            <a:r>
              <a:rPr lang="en-US" sz="3600" dirty="0"/>
              <a:t> (9,911 positive, 6,672 negative, and 4,763 neutral). </a:t>
            </a:r>
          </a:p>
          <a:p>
            <a:pPr marL="457200" indent="-457200" algn="just">
              <a:buFont typeface="Arial" panose="020B0604020202020204" pitchFamily="34" charset="0"/>
              <a:buChar char="•"/>
            </a:pPr>
            <a:r>
              <a:rPr lang="en-US" sz="3600" dirty="0"/>
              <a:t>Split into </a:t>
            </a:r>
            <a:r>
              <a:rPr lang="en-US" sz="3600" b="1" dirty="0"/>
              <a:t>training (80%)</a:t>
            </a:r>
            <a:r>
              <a:rPr lang="en-US" sz="3600" dirty="0"/>
              <a:t> and </a:t>
            </a:r>
            <a:r>
              <a:rPr lang="en-US" sz="3600" b="1" dirty="0"/>
              <a:t>testing (20%)</a:t>
            </a:r>
            <a:r>
              <a:rPr lang="en-US" sz="3600" dirty="0"/>
              <a:t> for model evaluation.</a:t>
            </a:r>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descr="A bar graph showing different colored bars&#10;&#10;Description automatically generated">
            <a:extLst>
              <a:ext uri="{FF2B5EF4-FFF2-40B4-BE49-F238E27FC236}">
                <a16:creationId xmlns:a16="http://schemas.microsoft.com/office/drawing/2014/main" id="{F2DD7307-7262-BD9C-7854-87FDCF754F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74793" y="3031334"/>
            <a:ext cx="6013207" cy="4224332"/>
          </a:xfrm>
          <a:prstGeom prst="rect">
            <a:avLst/>
          </a:prstGeom>
        </p:spPr>
      </p:pic>
    </p:spTree>
    <p:extLst>
      <p:ext uri="{BB962C8B-B14F-4D97-AF65-F5344CB8AC3E}">
        <p14:creationId xmlns:p14="http://schemas.microsoft.com/office/powerpoint/2010/main" val="1288920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C59C85F3-89B1-52CC-07C7-9331171DD98E}"/>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007AE996-F5CC-0B54-4B94-653D097817D1}"/>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B2146D17-A4BA-3F8C-E3EB-A6A2B14685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a:extLst>
                <a:ext uri="{FF2B5EF4-FFF2-40B4-BE49-F238E27FC236}">
                  <a16:creationId xmlns:a16="http://schemas.microsoft.com/office/drawing/2014/main" id="{A5D798F7-DC2E-EE11-8CF3-030195435FCE}"/>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25D74204-1A99-2071-50F8-A54E181EED33}"/>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a:extLst>
              <a:ext uri="{FF2B5EF4-FFF2-40B4-BE49-F238E27FC236}">
                <a16:creationId xmlns:a16="http://schemas.microsoft.com/office/drawing/2014/main" id="{BB8812EA-5B35-A820-BC5C-BEE2402F94E4}"/>
              </a:ext>
            </a:extLst>
          </p:cNvPr>
          <p:cNvSpPr txBox="1"/>
          <p:nvPr/>
        </p:nvSpPr>
        <p:spPr>
          <a:xfrm>
            <a:off x="1828800" y="405928"/>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Data Preprocessing</a:t>
            </a:r>
          </a:p>
        </p:txBody>
      </p:sp>
      <p:sp>
        <p:nvSpPr>
          <p:cNvPr id="35" name="TextBox 34">
            <a:extLst>
              <a:ext uri="{FF2B5EF4-FFF2-40B4-BE49-F238E27FC236}">
                <a16:creationId xmlns:a16="http://schemas.microsoft.com/office/drawing/2014/main" id="{FFDDEE8E-3CE3-7670-AB70-5270E645DD77}"/>
              </a:ext>
            </a:extLst>
          </p:cNvPr>
          <p:cNvSpPr txBox="1"/>
          <p:nvPr/>
        </p:nvSpPr>
        <p:spPr>
          <a:xfrm>
            <a:off x="1845733" y="1840885"/>
            <a:ext cx="13826067" cy="7417415"/>
          </a:xfrm>
          <a:prstGeom prst="rect">
            <a:avLst/>
          </a:prstGeom>
          <a:noFill/>
        </p:spPr>
        <p:txBody>
          <a:bodyPr wrap="square">
            <a:spAutoFit/>
          </a:bodyPr>
          <a:lstStyle/>
          <a:p>
            <a:pPr algn="just">
              <a:buFont typeface="Arial" panose="020B0604020202020204" pitchFamily="34" charset="0"/>
              <a:buChar char="•"/>
            </a:pPr>
            <a:r>
              <a:rPr lang="en-US" sz="3400" b="1" dirty="0"/>
              <a:t>Text Cleaning:</a:t>
            </a:r>
            <a:r>
              <a:rPr lang="en-US" sz="3400" dirty="0"/>
              <a:t> Removed English words, emojis, numbers, and extra spaces to retain only Bengali text. </a:t>
            </a:r>
          </a:p>
          <a:p>
            <a:pPr algn="just"/>
            <a:endParaRPr lang="en-US" sz="3400" dirty="0"/>
          </a:p>
          <a:p>
            <a:pPr algn="just">
              <a:buFont typeface="Arial" panose="020B0604020202020204" pitchFamily="34" charset="0"/>
              <a:buChar char="•"/>
            </a:pPr>
            <a:r>
              <a:rPr lang="en-US" sz="3400" b="1" dirty="0"/>
              <a:t>Attribute Selection:</a:t>
            </a:r>
            <a:r>
              <a:rPr lang="en-US" sz="3400" dirty="0"/>
              <a:t> Retained key attributes like </a:t>
            </a:r>
            <a:r>
              <a:rPr lang="en-US" sz="3400" b="1" dirty="0"/>
              <a:t>rating</a:t>
            </a:r>
            <a:r>
              <a:rPr lang="en-US" sz="3400" dirty="0"/>
              <a:t> (1–5), </a:t>
            </a:r>
            <a:r>
              <a:rPr lang="en-US" sz="3400" b="1" dirty="0"/>
              <a:t>review text</a:t>
            </a:r>
            <a:r>
              <a:rPr lang="en-US" sz="3400" dirty="0"/>
              <a:t>, </a:t>
            </a:r>
            <a:r>
              <a:rPr lang="en-US" sz="3400" b="1" dirty="0"/>
              <a:t>sentiment</a:t>
            </a:r>
            <a:r>
              <a:rPr lang="en-US" sz="3400" dirty="0"/>
              <a:t> (positive, negative, or neutral), and </a:t>
            </a:r>
            <a:r>
              <a:rPr lang="en-US" sz="3400" b="1" dirty="0"/>
              <a:t>label</a:t>
            </a:r>
            <a:r>
              <a:rPr lang="en-US" sz="3400" dirty="0"/>
              <a:t> (0 = negative, 1 = neutral, 2 = positive) for sentiment classification. </a:t>
            </a:r>
          </a:p>
          <a:p>
            <a:pPr algn="just"/>
            <a:endParaRPr lang="en-US" sz="3400" dirty="0"/>
          </a:p>
          <a:p>
            <a:pPr algn="just">
              <a:buFont typeface="Arial" panose="020B0604020202020204" pitchFamily="34" charset="0"/>
              <a:buChar char="•"/>
            </a:pPr>
            <a:r>
              <a:rPr lang="en-US" sz="3400" b="1" dirty="0"/>
              <a:t>Class Imbalance Handling:</a:t>
            </a:r>
            <a:r>
              <a:rPr lang="en-US" sz="3400" dirty="0"/>
              <a:t> Reduced the positive class to </a:t>
            </a:r>
            <a:r>
              <a:rPr lang="en-US" sz="3400" b="1" dirty="0"/>
              <a:t>10%</a:t>
            </a:r>
            <a:r>
              <a:rPr lang="en-US" sz="3400" dirty="0"/>
              <a:t> of its original size to address class imbalance, resulting in </a:t>
            </a:r>
            <a:r>
              <a:rPr lang="en-US" sz="3400" b="1" dirty="0"/>
              <a:t>21,446 samples</a:t>
            </a:r>
            <a:r>
              <a:rPr lang="en-US" sz="3400" dirty="0"/>
              <a:t> (9,911 positive, 6,672 negative, and 4,763 neutral).</a:t>
            </a:r>
          </a:p>
          <a:p>
            <a:pPr algn="just">
              <a:buFont typeface="Arial" panose="020B0604020202020204" pitchFamily="34" charset="0"/>
              <a:buChar char="•"/>
            </a:pPr>
            <a:endParaRPr lang="en-US" sz="3400" dirty="0"/>
          </a:p>
          <a:p>
            <a:pPr algn="just">
              <a:buFont typeface="Arial" panose="020B0604020202020204" pitchFamily="34" charset="0"/>
              <a:buChar char="•"/>
            </a:pPr>
            <a:r>
              <a:rPr lang="en-US" sz="3400" dirty="0"/>
              <a:t> </a:t>
            </a:r>
            <a:r>
              <a:rPr lang="en-US" sz="3400" b="1" dirty="0"/>
              <a:t>Tokenization:</a:t>
            </a:r>
            <a:r>
              <a:rPr lang="en-US" sz="3400" dirty="0"/>
              <a:t> Used </a:t>
            </a:r>
            <a:r>
              <a:rPr lang="en-US" sz="3400" b="1" dirty="0" err="1"/>
              <a:t>BanglaBERT</a:t>
            </a:r>
            <a:r>
              <a:rPr lang="en-US" sz="3400" b="1" dirty="0"/>
              <a:t> tokenizer</a:t>
            </a:r>
            <a:r>
              <a:rPr lang="en-US" sz="3400" dirty="0"/>
              <a:t> for </a:t>
            </a:r>
            <a:r>
              <a:rPr lang="en-US" sz="3400" dirty="0" err="1"/>
              <a:t>subword</a:t>
            </a:r>
            <a:r>
              <a:rPr lang="en-US" sz="3400" dirty="0"/>
              <a:t> tokenization with a maximum sequence length of </a:t>
            </a:r>
            <a:r>
              <a:rPr lang="en-US" sz="3400" b="1" dirty="0"/>
              <a:t>128</a:t>
            </a:r>
            <a:r>
              <a:rPr lang="en-US" sz="3400" dirty="0"/>
              <a:t>. Padding and truncation were applied to standardize input size.</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05651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8901-4F34-5018-44DA-57F19602CE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39F6C63-A717-5064-2248-24499418EE1F}"/>
              </a:ext>
            </a:extLst>
          </p:cNvPr>
          <p:cNvSpPr/>
          <p:nvPr/>
        </p:nvSpPr>
        <p:spPr>
          <a:xfrm>
            <a:off x="311936" y="4074822"/>
            <a:ext cx="5062925" cy="6212178"/>
          </a:xfrm>
          <a:custGeom>
            <a:avLst/>
            <a:gdLst/>
            <a:ahLst/>
            <a:cxnLst/>
            <a:rect l="l" t="t" r="r" b="b"/>
            <a:pathLst>
              <a:path w="5062925" h="6212178">
                <a:moveTo>
                  <a:pt x="0" y="0"/>
                </a:moveTo>
                <a:lnTo>
                  <a:pt x="5062925" y="0"/>
                </a:lnTo>
                <a:lnTo>
                  <a:pt x="5062925" y="6212178"/>
                </a:lnTo>
                <a:lnTo>
                  <a:pt x="0" y="62121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a:extLst>
              <a:ext uri="{FF2B5EF4-FFF2-40B4-BE49-F238E27FC236}">
                <a16:creationId xmlns:a16="http://schemas.microsoft.com/office/drawing/2014/main" id="{115BD831-C551-D8A7-C156-703144E2669C}"/>
              </a:ext>
            </a:extLst>
          </p:cNvPr>
          <p:cNvGrpSpPr/>
          <p:nvPr/>
        </p:nvGrpSpPr>
        <p:grpSpPr>
          <a:xfrm>
            <a:off x="16009094" y="-427225"/>
            <a:ext cx="2278906" cy="2278906"/>
            <a:chOff x="0" y="0"/>
            <a:chExt cx="812800" cy="812800"/>
          </a:xfrm>
        </p:grpSpPr>
        <p:sp>
          <p:nvSpPr>
            <p:cNvPr id="4" name="Freeform 4">
              <a:extLst>
                <a:ext uri="{FF2B5EF4-FFF2-40B4-BE49-F238E27FC236}">
                  <a16:creationId xmlns:a16="http://schemas.microsoft.com/office/drawing/2014/main" id="{6E7C26F4-D0D5-E443-5808-2547A8A473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59FF"/>
            </a:solidFill>
          </p:spPr>
          <p:txBody>
            <a:bodyPr/>
            <a:lstStyle/>
            <a:p>
              <a:endParaRPr lang="en-US"/>
            </a:p>
          </p:txBody>
        </p:sp>
        <p:sp>
          <p:nvSpPr>
            <p:cNvPr id="5" name="TextBox 5">
              <a:extLst>
                <a:ext uri="{FF2B5EF4-FFF2-40B4-BE49-F238E27FC236}">
                  <a16:creationId xmlns:a16="http://schemas.microsoft.com/office/drawing/2014/main" id="{990D6A55-7AC1-9653-D26F-96251829D9D1}"/>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8" name="TextBox 8">
            <a:extLst>
              <a:ext uri="{FF2B5EF4-FFF2-40B4-BE49-F238E27FC236}">
                <a16:creationId xmlns:a16="http://schemas.microsoft.com/office/drawing/2014/main" id="{11DD4B93-8E3F-006A-3B08-180BF5A67E8B}"/>
              </a:ext>
            </a:extLst>
          </p:cNvPr>
          <p:cNvSpPr txBox="1"/>
          <p:nvPr/>
        </p:nvSpPr>
        <p:spPr>
          <a:xfrm>
            <a:off x="793198" y="382641"/>
            <a:ext cx="12988035" cy="1226820"/>
          </a:xfrm>
          <a:prstGeom prst="rect">
            <a:avLst/>
          </a:prstGeom>
        </p:spPr>
        <p:txBody>
          <a:bodyPr lIns="0" tIns="0" rIns="0" bIns="0" rtlCol="0" anchor="t">
            <a:spAutoFit/>
          </a:bodyPr>
          <a:lstStyle/>
          <a:p>
            <a:pPr marL="0" lvl="0" indent="0" algn="l">
              <a:lnSpc>
                <a:spcPts val="10080"/>
              </a:lnSpc>
              <a:spcBef>
                <a:spcPct val="0"/>
              </a:spcBef>
            </a:pPr>
            <a:r>
              <a:rPr lang="en-US" sz="7200" dirty="0">
                <a:solidFill>
                  <a:srgbClr val="272727"/>
                </a:solidFill>
                <a:latin typeface="Segoe UI Black" panose="020B0A02040204020203" pitchFamily="34" charset="0"/>
                <a:ea typeface="Segoe UI Black" panose="020B0A02040204020203" pitchFamily="34" charset="0"/>
                <a:cs typeface="League Spartan"/>
                <a:sym typeface="League Spartan"/>
              </a:rPr>
              <a:t>Methodology</a:t>
            </a:r>
          </a:p>
        </p:txBody>
      </p:sp>
      <p:grpSp>
        <p:nvGrpSpPr>
          <p:cNvPr id="13" name="Group 13">
            <a:extLst>
              <a:ext uri="{FF2B5EF4-FFF2-40B4-BE49-F238E27FC236}">
                <a16:creationId xmlns:a16="http://schemas.microsoft.com/office/drawing/2014/main" id="{EF2FC893-889D-4AA2-805D-D279D5A1DDB0}"/>
              </a:ext>
            </a:extLst>
          </p:cNvPr>
          <p:cNvGrpSpPr/>
          <p:nvPr/>
        </p:nvGrpSpPr>
        <p:grpSpPr>
          <a:xfrm>
            <a:off x="16403245" y="-507343"/>
            <a:ext cx="2278906" cy="2278906"/>
            <a:chOff x="0" y="0"/>
            <a:chExt cx="812800" cy="812800"/>
          </a:xfrm>
        </p:grpSpPr>
        <p:sp>
          <p:nvSpPr>
            <p:cNvPr id="14" name="Freeform 14">
              <a:extLst>
                <a:ext uri="{FF2B5EF4-FFF2-40B4-BE49-F238E27FC236}">
                  <a16:creationId xmlns:a16="http://schemas.microsoft.com/office/drawing/2014/main" id="{4D19D3C3-AD4C-6179-B087-961F6D431F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0000"/>
            </a:solidFill>
          </p:spPr>
          <p:txBody>
            <a:bodyPr/>
            <a:lstStyle/>
            <a:p>
              <a:endParaRPr lang="en-US"/>
            </a:p>
          </p:txBody>
        </p:sp>
        <p:sp>
          <p:nvSpPr>
            <p:cNvPr id="15" name="TextBox 15">
              <a:extLst>
                <a:ext uri="{FF2B5EF4-FFF2-40B4-BE49-F238E27FC236}">
                  <a16:creationId xmlns:a16="http://schemas.microsoft.com/office/drawing/2014/main" id="{5F4CE851-3CCF-E151-D733-A3BD9250A3C2}"/>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dirty="0"/>
            </a:p>
          </p:txBody>
        </p:sp>
      </p:grpSp>
      <p:sp>
        <p:nvSpPr>
          <p:cNvPr id="7" name="TextBox 6">
            <a:extLst>
              <a:ext uri="{FF2B5EF4-FFF2-40B4-BE49-F238E27FC236}">
                <a16:creationId xmlns:a16="http://schemas.microsoft.com/office/drawing/2014/main" id="{CE76F59A-9518-A0CB-35EE-DF284FCAFEC7}"/>
              </a:ext>
            </a:extLst>
          </p:cNvPr>
          <p:cNvSpPr txBox="1"/>
          <p:nvPr/>
        </p:nvSpPr>
        <p:spPr>
          <a:xfrm>
            <a:off x="793198" y="1857629"/>
            <a:ext cx="10103402" cy="7571303"/>
          </a:xfrm>
          <a:prstGeom prst="rect">
            <a:avLst/>
          </a:prstGeom>
          <a:noFill/>
        </p:spPr>
        <p:txBody>
          <a:bodyPr wrap="square">
            <a:spAutoFit/>
          </a:bodyPr>
          <a:lstStyle/>
          <a:p>
            <a:pPr algn="just"/>
            <a:r>
              <a:rPr lang="en-US" sz="2700" b="1" u="sng" dirty="0"/>
              <a:t>A. Transformer-Based Models:</a:t>
            </a:r>
          </a:p>
          <a:p>
            <a:pPr algn="just">
              <a:buFont typeface="Arial" panose="020B0604020202020204" pitchFamily="34" charset="0"/>
              <a:buChar char="•"/>
            </a:pPr>
            <a:r>
              <a:rPr lang="en-US" sz="2700" b="1" dirty="0" err="1"/>
              <a:t>BanglaBERT</a:t>
            </a:r>
            <a:r>
              <a:rPr lang="en-US" sz="2700" b="1" dirty="0"/>
              <a:t>:</a:t>
            </a:r>
            <a:r>
              <a:rPr lang="en-US" sz="2700" dirty="0"/>
              <a:t> Trained on a large Bengali corpus, fine-tuned for better language understanding.</a:t>
            </a:r>
          </a:p>
          <a:p>
            <a:pPr algn="just">
              <a:buFont typeface="Arial" panose="020B0604020202020204" pitchFamily="34" charset="0"/>
              <a:buChar char="•"/>
            </a:pPr>
            <a:r>
              <a:rPr lang="en-US" sz="2700" b="1" dirty="0" err="1"/>
              <a:t>mBERT</a:t>
            </a:r>
            <a:r>
              <a:rPr lang="en-US" sz="2700" b="1" dirty="0"/>
              <a:t>:</a:t>
            </a:r>
            <a:r>
              <a:rPr lang="en-US" sz="2700" dirty="0"/>
              <a:t> </a:t>
            </a:r>
          </a:p>
          <a:p>
            <a:pPr marL="742950" lvl="1" indent="-285750" algn="just">
              <a:buFont typeface="Arial" panose="020B0604020202020204" pitchFamily="34" charset="0"/>
              <a:buChar char="•"/>
            </a:pPr>
            <a:r>
              <a:rPr lang="en-US" sz="2700" dirty="0"/>
              <a:t>Trained on </a:t>
            </a:r>
            <a:r>
              <a:rPr lang="en-US" sz="2700" b="1" dirty="0"/>
              <a:t>104 languages</a:t>
            </a:r>
            <a:r>
              <a:rPr lang="en-US" sz="2700" dirty="0"/>
              <a:t> (including Bengali).</a:t>
            </a:r>
          </a:p>
          <a:p>
            <a:pPr marL="742950" lvl="1" indent="-285750" algn="just">
              <a:buFont typeface="Arial" panose="020B0604020202020204" pitchFamily="34" charset="0"/>
              <a:buChar char="•"/>
            </a:pPr>
            <a:r>
              <a:rPr lang="en-US" sz="2700" b="1" dirty="0"/>
              <a:t>Cased:</a:t>
            </a:r>
            <a:r>
              <a:rPr lang="en-US" sz="2700" dirty="0"/>
              <a:t> Retains capitalization, helps with tokenization.</a:t>
            </a:r>
          </a:p>
          <a:p>
            <a:pPr marL="742950" lvl="1" indent="-285750" algn="just">
              <a:buFont typeface="Arial" panose="020B0604020202020204" pitchFamily="34" charset="0"/>
              <a:buChar char="•"/>
            </a:pPr>
            <a:r>
              <a:rPr lang="en-US" sz="2700" b="1" dirty="0"/>
              <a:t>Uncased:</a:t>
            </a:r>
            <a:r>
              <a:rPr lang="en-US" sz="2700" dirty="0"/>
              <a:t> Normalizes case, improves tokenization.</a:t>
            </a:r>
          </a:p>
          <a:p>
            <a:pPr algn="just">
              <a:buFont typeface="Arial" panose="020B0604020202020204" pitchFamily="34" charset="0"/>
              <a:buChar char="•"/>
            </a:pPr>
            <a:r>
              <a:rPr lang="en-US" sz="2700" b="1" dirty="0"/>
              <a:t>XLM-</a:t>
            </a:r>
            <a:r>
              <a:rPr lang="en-US" sz="2700" b="1" dirty="0" err="1"/>
              <a:t>RoBERTa</a:t>
            </a:r>
            <a:r>
              <a:rPr lang="en-US" sz="2700" b="1" dirty="0"/>
              <a:t>:</a:t>
            </a:r>
            <a:r>
              <a:rPr lang="en-US" sz="2700" dirty="0"/>
              <a:t> Multilingual model, handles code-mixed text but underperforms for Bengali.</a:t>
            </a:r>
          </a:p>
          <a:p>
            <a:pPr algn="just"/>
            <a:endParaRPr lang="en-US" sz="2700" dirty="0"/>
          </a:p>
          <a:p>
            <a:pPr algn="just"/>
            <a:r>
              <a:rPr lang="en-US" sz="2700" b="1" u="sng" dirty="0"/>
              <a:t>B. Feature Selection</a:t>
            </a:r>
          </a:p>
          <a:p>
            <a:pPr algn="just">
              <a:buFont typeface="Arial" panose="020B0604020202020204" pitchFamily="34" charset="0"/>
              <a:buChar char="•"/>
            </a:pPr>
            <a:r>
              <a:rPr lang="en-US" sz="2700" b="1" dirty="0"/>
              <a:t>Input Features:</a:t>
            </a:r>
            <a:r>
              <a:rPr lang="en-US" sz="2700" dirty="0"/>
              <a:t> </a:t>
            </a:r>
          </a:p>
          <a:p>
            <a:pPr marL="742950" lvl="1" indent="-285750" algn="just">
              <a:buFont typeface="Arial" panose="020B0604020202020204" pitchFamily="34" charset="0"/>
              <a:buChar char="•"/>
            </a:pPr>
            <a:r>
              <a:rPr lang="en-US" sz="2700" b="1" dirty="0"/>
              <a:t>Rating:</a:t>
            </a:r>
            <a:r>
              <a:rPr lang="en-US" sz="2700" dirty="0"/>
              <a:t> Numeric value (1 to 5), normalized.</a:t>
            </a:r>
          </a:p>
          <a:p>
            <a:pPr marL="742950" lvl="1" indent="-285750" algn="just">
              <a:buFont typeface="Arial" panose="020B0604020202020204" pitchFamily="34" charset="0"/>
              <a:buChar char="•"/>
            </a:pPr>
            <a:r>
              <a:rPr lang="en-US" sz="2700" b="1" dirty="0"/>
              <a:t>Review:</a:t>
            </a:r>
            <a:r>
              <a:rPr lang="en-US" sz="2700" dirty="0"/>
              <a:t> Actual review text, tokenized for model input.</a:t>
            </a:r>
          </a:p>
          <a:p>
            <a:pPr algn="just">
              <a:buFont typeface="Arial" panose="020B0604020202020204" pitchFamily="34" charset="0"/>
              <a:buChar char="•"/>
            </a:pPr>
            <a:r>
              <a:rPr lang="en-US" sz="2700" b="1" dirty="0"/>
              <a:t>Target Variable:</a:t>
            </a:r>
            <a:r>
              <a:rPr lang="en-US" sz="2700" dirty="0"/>
              <a:t> </a:t>
            </a:r>
          </a:p>
          <a:p>
            <a:pPr marL="742950" lvl="1" indent="-285750" algn="just">
              <a:buFont typeface="Arial" panose="020B0604020202020204" pitchFamily="34" charset="0"/>
              <a:buChar char="•"/>
            </a:pPr>
            <a:r>
              <a:rPr lang="en-US" sz="2700" b="1" dirty="0"/>
              <a:t>0 → Negative</a:t>
            </a:r>
            <a:endParaRPr lang="en-US" sz="2700" dirty="0"/>
          </a:p>
          <a:p>
            <a:pPr marL="742950" lvl="1" indent="-285750" algn="just">
              <a:buFont typeface="Arial" panose="020B0604020202020204" pitchFamily="34" charset="0"/>
              <a:buChar char="•"/>
            </a:pPr>
            <a:r>
              <a:rPr lang="en-US" sz="2700" b="1" dirty="0"/>
              <a:t>1 → Neutral</a:t>
            </a:r>
            <a:endParaRPr lang="en-US" sz="2700" dirty="0"/>
          </a:p>
          <a:p>
            <a:pPr marL="742950" lvl="1" indent="-285750" algn="just">
              <a:buFont typeface="Arial" panose="020B0604020202020204" pitchFamily="34" charset="0"/>
              <a:buChar char="•"/>
            </a:pPr>
            <a:r>
              <a:rPr lang="en-US" sz="2700" b="1" dirty="0"/>
              <a:t>2 → Positive</a:t>
            </a:r>
            <a:endParaRPr lang="en-US" sz="2700" dirty="0"/>
          </a:p>
        </p:txBody>
      </p:sp>
      <p:pic>
        <p:nvPicPr>
          <p:cNvPr id="12" name="Picture 11" descr="A diagram of a model training&#10;&#10;Description automatically generated">
            <a:extLst>
              <a:ext uri="{FF2B5EF4-FFF2-40B4-BE49-F238E27FC236}">
                <a16:creationId xmlns:a16="http://schemas.microsoft.com/office/drawing/2014/main" id="{247099E5-ED71-D258-4792-BE4F93A64F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1773" y="996050"/>
            <a:ext cx="4183170" cy="8930851"/>
          </a:xfrm>
          <a:prstGeom prst="rect">
            <a:avLst/>
          </a:prstGeom>
        </p:spPr>
      </p:pic>
    </p:spTree>
    <p:extLst>
      <p:ext uri="{BB962C8B-B14F-4D97-AF65-F5344CB8AC3E}">
        <p14:creationId xmlns:p14="http://schemas.microsoft.com/office/powerpoint/2010/main" val="1366169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63405-E022-D2C0-FBE3-4F4CB25EFC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5AA8A1-D54B-64F9-7F90-0D98B7B4EC80}"/>
              </a:ext>
            </a:extLst>
          </p:cNvPr>
          <p:cNvSpPr/>
          <p:nvPr/>
        </p:nvSpPr>
        <p:spPr>
          <a:xfrm>
            <a:off x="311936" y="4074822"/>
            <a:ext cx="5062925" cy="6212178"/>
          </a:xfrm>
          <a:custGeom>
            <a:avLst/>
            <a:gdLst/>
            <a:ahLst/>
            <a:cxnLst/>
            <a:rect l="l" t="t" r="r" b="b"/>
            <a:pathLst>
              <a:path w="5062925" h="6212178">
                <a:moveTo>
                  <a:pt x="0" y="0"/>
                </a:moveTo>
                <a:lnTo>
                  <a:pt x="5062925" y="0"/>
                </a:lnTo>
                <a:lnTo>
                  <a:pt x="5062925" y="6212178"/>
                </a:lnTo>
                <a:lnTo>
                  <a:pt x="0" y="62121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a:extLst>
              <a:ext uri="{FF2B5EF4-FFF2-40B4-BE49-F238E27FC236}">
                <a16:creationId xmlns:a16="http://schemas.microsoft.com/office/drawing/2014/main" id="{53191B7F-92FA-C8B1-F95B-1244E8C839CE}"/>
              </a:ext>
            </a:extLst>
          </p:cNvPr>
          <p:cNvGrpSpPr/>
          <p:nvPr/>
        </p:nvGrpSpPr>
        <p:grpSpPr>
          <a:xfrm>
            <a:off x="16009094" y="-427225"/>
            <a:ext cx="2278906" cy="2278906"/>
            <a:chOff x="0" y="0"/>
            <a:chExt cx="812800" cy="812800"/>
          </a:xfrm>
        </p:grpSpPr>
        <p:sp>
          <p:nvSpPr>
            <p:cNvPr id="4" name="Freeform 4">
              <a:extLst>
                <a:ext uri="{FF2B5EF4-FFF2-40B4-BE49-F238E27FC236}">
                  <a16:creationId xmlns:a16="http://schemas.microsoft.com/office/drawing/2014/main" id="{AA8BF752-829E-5D8D-FE21-52B4CF39C5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59FF"/>
            </a:solidFill>
          </p:spPr>
          <p:txBody>
            <a:bodyPr/>
            <a:lstStyle/>
            <a:p>
              <a:endParaRPr lang="en-US"/>
            </a:p>
          </p:txBody>
        </p:sp>
        <p:sp>
          <p:nvSpPr>
            <p:cNvPr id="5" name="TextBox 5">
              <a:extLst>
                <a:ext uri="{FF2B5EF4-FFF2-40B4-BE49-F238E27FC236}">
                  <a16:creationId xmlns:a16="http://schemas.microsoft.com/office/drawing/2014/main" id="{2A13E017-B982-4ACB-259A-5224507929F5}"/>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8" name="TextBox 8">
            <a:extLst>
              <a:ext uri="{FF2B5EF4-FFF2-40B4-BE49-F238E27FC236}">
                <a16:creationId xmlns:a16="http://schemas.microsoft.com/office/drawing/2014/main" id="{A9B569FC-F3A8-3664-4CE6-50053323681F}"/>
              </a:ext>
            </a:extLst>
          </p:cNvPr>
          <p:cNvSpPr txBox="1"/>
          <p:nvPr/>
        </p:nvSpPr>
        <p:spPr>
          <a:xfrm>
            <a:off x="1143000" y="645463"/>
            <a:ext cx="12988035" cy="1226820"/>
          </a:xfrm>
          <a:prstGeom prst="rect">
            <a:avLst/>
          </a:prstGeom>
        </p:spPr>
        <p:txBody>
          <a:bodyPr lIns="0" tIns="0" rIns="0" bIns="0" rtlCol="0" anchor="t">
            <a:spAutoFit/>
          </a:bodyPr>
          <a:lstStyle/>
          <a:p>
            <a:pPr marL="0" lvl="0" indent="0" algn="l">
              <a:lnSpc>
                <a:spcPts val="10080"/>
              </a:lnSpc>
              <a:spcBef>
                <a:spcPct val="0"/>
              </a:spcBef>
            </a:pPr>
            <a:r>
              <a:rPr lang="en-US" sz="7200" dirty="0">
                <a:solidFill>
                  <a:srgbClr val="272727"/>
                </a:solidFill>
                <a:latin typeface="Segoe UI Black" panose="020B0A02040204020203" pitchFamily="34" charset="0"/>
                <a:ea typeface="Segoe UI Black" panose="020B0A02040204020203" pitchFamily="34" charset="0"/>
                <a:cs typeface="League Spartan"/>
                <a:sym typeface="League Spartan"/>
              </a:rPr>
              <a:t>Methodology</a:t>
            </a:r>
          </a:p>
        </p:txBody>
      </p:sp>
      <p:grpSp>
        <p:nvGrpSpPr>
          <p:cNvPr id="13" name="Group 13">
            <a:extLst>
              <a:ext uri="{FF2B5EF4-FFF2-40B4-BE49-F238E27FC236}">
                <a16:creationId xmlns:a16="http://schemas.microsoft.com/office/drawing/2014/main" id="{9C8DBA31-822D-38A7-E5AC-DD3BF76CBD12}"/>
              </a:ext>
            </a:extLst>
          </p:cNvPr>
          <p:cNvGrpSpPr/>
          <p:nvPr/>
        </p:nvGrpSpPr>
        <p:grpSpPr>
          <a:xfrm>
            <a:off x="16403245" y="-507343"/>
            <a:ext cx="2278906" cy="2278906"/>
            <a:chOff x="0" y="0"/>
            <a:chExt cx="812800" cy="812800"/>
          </a:xfrm>
        </p:grpSpPr>
        <p:sp>
          <p:nvSpPr>
            <p:cNvPr id="14" name="Freeform 14">
              <a:extLst>
                <a:ext uri="{FF2B5EF4-FFF2-40B4-BE49-F238E27FC236}">
                  <a16:creationId xmlns:a16="http://schemas.microsoft.com/office/drawing/2014/main" id="{16B31CC9-CD32-639D-9A87-3D821EC898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0000"/>
            </a:solidFill>
          </p:spPr>
          <p:txBody>
            <a:bodyPr/>
            <a:lstStyle/>
            <a:p>
              <a:endParaRPr lang="en-US"/>
            </a:p>
          </p:txBody>
        </p:sp>
        <p:sp>
          <p:nvSpPr>
            <p:cNvPr id="15" name="TextBox 15">
              <a:extLst>
                <a:ext uri="{FF2B5EF4-FFF2-40B4-BE49-F238E27FC236}">
                  <a16:creationId xmlns:a16="http://schemas.microsoft.com/office/drawing/2014/main" id="{0C5B753D-6E80-2DA7-8CC2-7D7C73C778D5}"/>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dirty="0"/>
            </a:p>
          </p:txBody>
        </p:sp>
      </p:grpSp>
      <p:sp>
        <p:nvSpPr>
          <p:cNvPr id="7" name="TextBox 6">
            <a:extLst>
              <a:ext uri="{FF2B5EF4-FFF2-40B4-BE49-F238E27FC236}">
                <a16:creationId xmlns:a16="http://schemas.microsoft.com/office/drawing/2014/main" id="{ED393104-210B-3048-E3A6-DFB35EF5509C}"/>
              </a:ext>
            </a:extLst>
          </p:cNvPr>
          <p:cNvSpPr txBox="1"/>
          <p:nvPr/>
        </p:nvSpPr>
        <p:spPr>
          <a:xfrm>
            <a:off x="1143000" y="2324100"/>
            <a:ext cx="13820879" cy="6338979"/>
          </a:xfrm>
          <a:prstGeom prst="rect">
            <a:avLst/>
          </a:prstGeom>
          <a:noFill/>
        </p:spPr>
        <p:txBody>
          <a:bodyPr wrap="square">
            <a:spAutoFit/>
          </a:bodyPr>
          <a:lstStyle/>
          <a:p>
            <a:pPr algn="just"/>
            <a:r>
              <a:rPr lang="en-US" sz="3600" b="1" u="sng" dirty="0">
                <a:latin typeface="Calibri" panose="020F0502020204030204" pitchFamily="34" charset="0"/>
                <a:cs typeface="Calibri" panose="020F0502020204030204" pitchFamily="34" charset="0"/>
              </a:rPr>
              <a:t>C. Hyperparameter Tuning:</a:t>
            </a:r>
          </a:p>
          <a:p>
            <a:pPr algn="just"/>
            <a:endParaRPr lang="en-US" sz="3600" b="1" dirty="0">
              <a:latin typeface="Calibri" panose="020F0502020204030204" pitchFamily="34" charset="0"/>
              <a:cs typeface="Calibri" panose="020F0502020204030204" pitchFamily="34" charset="0"/>
            </a:endParaRPr>
          </a:p>
          <a:p>
            <a:pPr algn="just">
              <a:buFont typeface="Arial" panose="020B0604020202020204" pitchFamily="34" charset="0"/>
              <a:buChar char="•"/>
            </a:pPr>
            <a:r>
              <a:rPr lang="en-US" sz="3600" b="1" dirty="0">
                <a:latin typeface="Calibri" panose="020F0502020204030204" pitchFamily="34" charset="0"/>
                <a:cs typeface="Calibri" panose="020F0502020204030204" pitchFamily="34" charset="0"/>
              </a:rPr>
              <a:t> Batch Size:</a:t>
            </a:r>
            <a:r>
              <a:rPr lang="en-US" sz="3600" dirty="0">
                <a:latin typeface="Calibri" panose="020F0502020204030204" pitchFamily="34" charset="0"/>
                <a:cs typeface="Calibri" panose="020F0502020204030204" pitchFamily="34" charset="0"/>
              </a:rPr>
              <a:t> 16 (tested 8 for memory efficiency).</a:t>
            </a:r>
          </a:p>
          <a:p>
            <a:pPr algn="just">
              <a:buFont typeface="Arial" panose="020B0604020202020204" pitchFamily="34" charset="0"/>
              <a:buChar char="•"/>
            </a:pPr>
            <a:r>
              <a:rPr lang="en-US" sz="3600" b="1" dirty="0">
                <a:latin typeface="Calibri" panose="020F0502020204030204" pitchFamily="34" charset="0"/>
                <a:cs typeface="Calibri" panose="020F0502020204030204" pitchFamily="34" charset="0"/>
              </a:rPr>
              <a:t> Learning Rate:</a:t>
            </a:r>
            <a:r>
              <a:rPr lang="en-US" sz="3600" dirty="0">
                <a:latin typeface="Calibri" panose="020F0502020204030204" pitchFamily="34" charset="0"/>
                <a:cs typeface="Calibri" panose="020F0502020204030204" pitchFamily="34" charset="0"/>
              </a:rPr>
              <a:t> 2e-5 (tested 1e-5 for stable training).</a:t>
            </a:r>
          </a:p>
          <a:p>
            <a:pPr algn="just">
              <a:buFont typeface="Arial" panose="020B0604020202020204" pitchFamily="34" charset="0"/>
              <a:buChar char="•"/>
            </a:pPr>
            <a:r>
              <a:rPr lang="en-US" sz="3600" b="1" dirty="0">
                <a:latin typeface="Calibri" panose="020F0502020204030204" pitchFamily="34" charset="0"/>
                <a:cs typeface="Calibri" panose="020F0502020204030204" pitchFamily="34" charset="0"/>
              </a:rPr>
              <a:t> Weight Decay:</a:t>
            </a:r>
            <a:r>
              <a:rPr lang="en-US" sz="3600" dirty="0">
                <a:latin typeface="Calibri" panose="020F0502020204030204" pitchFamily="34" charset="0"/>
                <a:cs typeface="Calibri" panose="020F0502020204030204" pitchFamily="34" charset="0"/>
              </a:rPr>
              <a:t> 0.01 (tested 0.02 to prevent overfitting).</a:t>
            </a:r>
          </a:p>
          <a:p>
            <a:pPr algn="just">
              <a:buFont typeface="Arial" panose="020B0604020202020204" pitchFamily="34" charset="0"/>
              <a:buChar char="•"/>
            </a:pPr>
            <a:r>
              <a:rPr lang="en-US" sz="3600" b="1" dirty="0">
                <a:latin typeface="Calibri" panose="020F0502020204030204" pitchFamily="34" charset="0"/>
                <a:cs typeface="Calibri" panose="020F0502020204030204" pitchFamily="34" charset="0"/>
              </a:rPr>
              <a:t> Epochs:</a:t>
            </a:r>
            <a:r>
              <a:rPr lang="en-US" sz="3600" dirty="0">
                <a:latin typeface="Calibri" panose="020F0502020204030204" pitchFamily="34" charset="0"/>
                <a:cs typeface="Calibri" panose="020F0502020204030204" pitchFamily="34" charset="0"/>
              </a:rPr>
              <a:t> 5 (tested up to 7, no major improvement).</a:t>
            </a:r>
          </a:p>
          <a:p>
            <a:pPr algn="just">
              <a:buFont typeface="Arial" panose="020B0604020202020204" pitchFamily="34" charset="0"/>
              <a:buChar char="•"/>
            </a:pPr>
            <a:r>
              <a:rPr lang="en-US" sz="3600" b="1" dirty="0">
                <a:latin typeface="Calibri" panose="020F0502020204030204" pitchFamily="34" charset="0"/>
                <a:cs typeface="Calibri" panose="020F0502020204030204" pitchFamily="34" charset="0"/>
              </a:rPr>
              <a:t> Evaluation:</a:t>
            </a:r>
            <a:r>
              <a:rPr lang="en-US" sz="3600" dirty="0">
                <a:latin typeface="Calibri" panose="020F0502020204030204" pitchFamily="34" charset="0"/>
                <a:cs typeface="Calibri" panose="020F0502020204030204" pitchFamily="34" charset="0"/>
              </a:rPr>
              <a:t> Performance assessed after each epoch.</a:t>
            </a:r>
          </a:p>
          <a:p>
            <a:pPr algn="just"/>
            <a:endParaRPr lang="en-US" sz="3600" dirty="0">
              <a:latin typeface="Calibri" panose="020F0502020204030204" pitchFamily="34" charset="0"/>
              <a:cs typeface="Calibri" panose="020F0502020204030204" pitchFamily="34" charset="0"/>
            </a:endParaRPr>
          </a:p>
          <a:p>
            <a:pPr marR="0" lvl="0" algn="just" defTabSz="914400" rtl="0" eaLnBrk="1" fontAlgn="auto" latinLnBrk="0" hangingPunct="1">
              <a:lnSpc>
                <a:spcPts val="4759"/>
              </a:lnSpc>
              <a:spcBef>
                <a:spcPts val="0"/>
              </a:spcBef>
              <a:spcAft>
                <a:spcPts val="0"/>
              </a:spcAft>
              <a:buClrTx/>
              <a:buSzTx/>
              <a:tabLst/>
              <a:defRPr/>
            </a:pPr>
            <a:r>
              <a:rPr kumimoji="0" lang="en-US" sz="3600" b="1" i="0" u="sng"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D. Model Evaluation</a:t>
            </a:r>
          </a:p>
          <a:p>
            <a:pPr marL="571500" marR="0" lvl="0" indent="-571500" algn="just" defTabSz="914400" rtl="0" eaLnBrk="1" fontAlgn="auto" latinLnBrk="0" hangingPunct="1">
              <a:lnSpc>
                <a:spcPts val="4759"/>
              </a:lnSpc>
              <a:spcBef>
                <a:spcPts val="0"/>
              </a:spcBef>
              <a:spcAft>
                <a:spcPts val="0"/>
              </a:spcAft>
              <a:buClrTx/>
              <a:buSzTx/>
              <a:buFont typeface="Arial" panose="020B0604020202020204" pitchFamily="34" charset="0"/>
              <a:buChar char="•"/>
              <a:tabLst/>
              <a:defRPr/>
            </a:pPr>
            <a:r>
              <a:rPr kumimoji="0" lang="en-US" sz="3600"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Assessed models using </a:t>
            </a:r>
            <a:r>
              <a:rPr kumimoji="0" lang="en-US" sz="3600" b="1"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accuracy</a:t>
            </a:r>
            <a:r>
              <a:rPr kumimoji="0" lang="en-US" sz="3600"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 </a:t>
            </a:r>
            <a:r>
              <a:rPr kumimoji="0" lang="en-US" sz="3600" b="1"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precision</a:t>
            </a:r>
            <a:r>
              <a:rPr kumimoji="0" lang="en-US" sz="3600"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 </a:t>
            </a:r>
            <a:r>
              <a:rPr kumimoji="0" lang="en-US" sz="3600" b="1"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recall</a:t>
            </a:r>
            <a:r>
              <a:rPr kumimoji="0" lang="en-US" sz="3600"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 </a:t>
            </a:r>
            <a:r>
              <a:rPr kumimoji="0" lang="en-US" sz="3600" b="1"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F1-score</a:t>
            </a:r>
            <a:r>
              <a:rPr kumimoji="0" lang="en-US" sz="3600"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 and </a:t>
            </a:r>
            <a:r>
              <a:rPr kumimoji="0" lang="en-US" sz="3600" b="1"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confusion matrix</a:t>
            </a:r>
            <a:r>
              <a:rPr kumimoji="0" lang="en-US" sz="3600" i="0" u="none" strike="noStrike" kern="1200" cap="none" spc="0" normalizeH="0" baseline="0" noProof="0" dirty="0">
                <a:ln>
                  <a:noFill/>
                </a:ln>
                <a:solidFill>
                  <a:srgbClr val="404040"/>
                </a:solidFill>
                <a:effectLst/>
                <a:uLnTx/>
                <a:uFillTx/>
                <a:latin typeface="Calibri" panose="020F0502020204030204" pitchFamily="34" charset="0"/>
                <a:ea typeface="Open Sans" panose="020B0606030504020204" pitchFamily="34" charset="0"/>
                <a:cs typeface="Calibri" panose="020F0502020204030204" pitchFamily="34" charset="0"/>
              </a:rPr>
              <a:t>.</a:t>
            </a:r>
          </a:p>
        </p:txBody>
      </p:sp>
    </p:spTree>
    <p:extLst>
      <p:ext uri="{BB962C8B-B14F-4D97-AF65-F5344CB8AC3E}">
        <p14:creationId xmlns:p14="http://schemas.microsoft.com/office/powerpoint/2010/main" val="1041568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9506-E1A1-0165-DE1B-FAFE638D2DA5}"/>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339F469D-0185-73C1-4B2B-16DAA0BF9421}"/>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193B9B94-A108-9D1A-143B-937DA56157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a:extLst>
                <a:ext uri="{FF2B5EF4-FFF2-40B4-BE49-F238E27FC236}">
                  <a16:creationId xmlns:a16="http://schemas.microsoft.com/office/drawing/2014/main" id="{A8336391-0B36-D648-07B2-048D87FC979C}"/>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57A16148-0AC8-C1AF-0103-934DF423612B}"/>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a:extLst>
              <a:ext uri="{FF2B5EF4-FFF2-40B4-BE49-F238E27FC236}">
                <a16:creationId xmlns:a16="http://schemas.microsoft.com/office/drawing/2014/main" id="{719C421B-F39B-7447-6B04-609BAB808018}"/>
              </a:ext>
            </a:extLst>
          </p:cNvPr>
          <p:cNvSpPr txBox="1"/>
          <p:nvPr/>
        </p:nvSpPr>
        <p:spPr>
          <a:xfrm>
            <a:off x="2368462" y="1301508"/>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Evaluation Metrics</a:t>
            </a:r>
          </a:p>
        </p:txBody>
      </p:sp>
      <p:sp>
        <p:nvSpPr>
          <p:cNvPr id="8" name="TextBox 24">
            <a:extLst>
              <a:ext uri="{FF2B5EF4-FFF2-40B4-BE49-F238E27FC236}">
                <a16:creationId xmlns:a16="http://schemas.microsoft.com/office/drawing/2014/main" id="{1105DC83-6BF9-F89D-F20B-A18AD1189400}"/>
              </a:ext>
            </a:extLst>
          </p:cNvPr>
          <p:cNvSpPr txBox="1"/>
          <p:nvPr/>
        </p:nvSpPr>
        <p:spPr>
          <a:xfrm>
            <a:off x="2368462" y="2501729"/>
            <a:ext cx="11281018" cy="6932999"/>
          </a:xfrm>
          <a:prstGeom prst="rect">
            <a:avLst/>
          </a:prstGeom>
        </p:spPr>
        <p:txBody>
          <a:bodyPr wrap="square" lIns="0" tIns="0" rIns="0" bIns="0" rtlCol="0" anchor="t">
            <a:spAutoFit/>
          </a:bodyPr>
          <a:lstStyle/>
          <a:p>
            <a:pPr marL="0" lvl="0" indent="0" algn="just">
              <a:lnSpc>
                <a:spcPts val="3739"/>
              </a:lnSpc>
            </a:pPr>
            <a:endParaRPr lang="en-US" sz="3400" b="1" dirty="0">
              <a:solidFill>
                <a:srgbClr val="272727"/>
              </a:solidFill>
              <a:latin typeface="Calibri" panose="020F0502020204030204" pitchFamily="34" charset="0"/>
              <a:ea typeface="Open Sans" panose="020B0606030504020204" pitchFamily="34" charset="0"/>
              <a:cs typeface="Calibri" panose="020F0502020204030204" pitchFamily="34" charset="0"/>
              <a:sym typeface="Open Sans Bold"/>
            </a:endParaRPr>
          </a:p>
          <a:p>
            <a:pPr algn="just"/>
            <a:r>
              <a:rPr lang="en-US" sz="3400" b="1" dirty="0">
                <a:latin typeface="Calibri" panose="020F0502020204030204" pitchFamily="34" charset="0"/>
                <a:ea typeface="Open Sans" panose="020B0606030504020204" pitchFamily="34" charset="0"/>
                <a:cs typeface="Calibri" panose="020F0502020204030204" pitchFamily="34" charset="0"/>
              </a:rPr>
              <a:t>Accuracy: </a:t>
            </a:r>
            <a:r>
              <a:rPr lang="en-US" sz="3400" dirty="0">
                <a:latin typeface="Calibri" panose="020F0502020204030204" pitchFamily="34" charset="0"/>
                <a:ea typeface="Open Sans" panose="020B0606030504020204" pitchFamily="34" charset="0"/>
                <a:cs typeface="Calibri" panose="020F0502020204030204" pitchFamily="34" charset="0"/>
              </a:rPr>
              <a:t>Indicates the proportion of correctly classified reviews.</a:t>
            </a:r>
          </a:p>
          <a:p>
            <a:pPr algn="just"/>
            <a:endParaRPr lang="en-US" sz="3400" dirty="0">
              <a:latin typeface="Calibri" panose="020F0502020204030204" pitchFamily="34" charset="0"/>
              <a:ea typeface="Open Sans" panose="020B0606030504020204" pitchFamily="34" charset="0"/>
              <a:cs typeface="Calibri" panose="020F0502020204030204" pitchFamily="34" charset="0"/>
            </a:endParaRPr>
          </a:p>
          <a:p>
            <a:pPr algn="just"/>
            <a:r>
              <a:rPr lang="en-US" sz="3400" b="1" dirty="0">
                <a:latin typeface="Calibri" panose="020F0502020204030204" pitchFamily="34" charset="0"/>
                <a:ea typeface="Open Sans" panose="020B0606030504020204" pitchFamily="34" charset="0"/>
                <a:cs typeface="Calibri" panose="020F0502020204030204" pitchFamily="34" charset="0"/>
              </a:rPr>
              <a:t>Precision: </a:t>
            </a:r>
            <a:r>
              <a:rPr lang="en-US" sz="3400" dirty="0">
                <a:latin typeface="Calibri" panose="020F0502020204030204" pitchFamily="34" charset="0"/>
                <a:ea typeface="Open Sans" panose="020B0606030504020204" pitchFamily="34" charset="0"/>
                <a:cs typeface="Calibri" panose="020F0502020204030204" pitchFamily="34" charset="0"/>
              </a:rPr>
              <a:t>Reflects the model's effectiveness in accurately detecting book reviews.</a:t>
            </a:r>
          </a:p>
          <a:p>
            <a:pPr algn="just"/>
            <a:endParaRPr lang="en-US" sz="3400" dirty="0">
              <a:latin typeface="Calibri" panose="020F0502020204030204" pitchFamily="34" charset="0"/>
              <a:ea typeface="Open Sans" panose="020B0606030504020204" pitchFamily="34" charset="0"/>
              <a:cs typeface="Calibri" panose="020F0502020204030204" pitchFamily="34" charset="0"/>
            </a:endParaRPr>
          </a:p>
          <a:p>
            <a:pPr algn="just"/>
            <a:r>
              <a:rPr lang="en-US" sz="3400" b="1" dirty="0">
                <a:latin typeface="Calibri" panose="020F0502020204030204" pitchFamily="34" charset="0"/>
                <a:ea typeface="Open Sans" panose="020B0606030504020204" pitchFamily="34" charset="0"/>
                <a:cs typeface="Calibri" panose="020F0502020204030204" pitchFamily="34" charset="0"/>
              </a:rPr>
              <a:t>Recall: </a:t>
            </a:r>
            <a:r>
              <a:rPr lang="en-US" sz="3400" dirty="0">
                <a:latin typeface="Calibri" panose="020F0502020204030204" pitchFamily="34" charset="0"/>
                <a:ea typeface="Open Sans" panose="020B0606030504020204" pitchFamily="34" charset="0"/>
                <a:cs typeface="Calibri" panose="020F0502020204030204" pitchFamily="34" charset="0"/>
              </a:rPr>
              <a:t>Measures the model’s capability to capture all instances of book reviews.</a:t>
            </a:r>
          </a:p>
          <a:p>
            <a:pPr algn="just"/>
            <a:endParaRPr lang="en-US" sz="3400" dirty="0">
              <a:latin typeface="Calibri" panose="020F0502020204030204" pitchFamily="34" charset="0"/>
              <a:ea typeface="Open Sans" panose="020B0606030504020204" pitchFamily="34" charset="0"/>
              <a:cs typeface="Calibri" panose="020F0502020204030204" pitchFamily="34" charset="0"/>
            </a:endParaRPr>
          </a:p>
          <a:p>
            <a:pPr algn="just"/>
            <a:r>
              <a:rPr lang="en-US" sz="3400" b="1" dirty="0">
                <a:latin typeface="Calibri" panose="020F0502020204030204" pitchFamily="34" charset="0"/>
                <a:ea typeface="Open Sans" panose="020B0606030504020204" pitchFamily="34" charset="0"/>
                <a:cs typeface="Calibri" panose="020F0502020204030204" pitchFamily="34" charset="0"/>
              </a:rPr>
              <a:t>F1-Score: </a:t>
            </a:r>
            <a:r>
              <a:rPr lang="en-US" sz="3400" dirty="0">
                <a:latin typeface="Calibri" panose="020F0502020204030204" pitchFamily="34" charset="0"/>
                <a:ea typeface="Open Sans" panose="020B0606030504020204" pitchFamily="34" charset="0"/>
                <a:cs typeface="Calibri" panose="020F0502020204030204" pitchFamily="34" charset="0"/>
              </a:rPr>
              <a:t>Serves as a harmonic mean, balancing precision and recall.</a:t>
            </a:r>
          </a:p>
          <a:p>
            <a:pPr marL="0" lvl="0" indent="0" algn="just">
              <a:lnSpc>
                <a:spcPts val="3739"/>
              </a:lnSpc>
            </a:pPr>
            <a:endParaRPr lang="en-US" sz="3400" b="1" dirty="0">
              <a:solidFill>
                <a:srgbClr val="272727"/>
              </a:solidFill>
              <a:latin typeface="Calibri" panose="020F0502020204030204" pitchFamily="34" charset="0"/>
              <a:ea typeface="Open Sans" panose="020B0606030504020204" pitchFamily="34" charset="0"/>
              <a:cs typeface="Calibri" panose="020F0502020204030204" pitchFamily="34" charset="0"/>
              <a:sym typeface="Open Sans Bold"/>
            </a:endParaRPr>
          </a:p>
        </p:txBody>
      </p:sp>
    </p:spTree>
    <p:extLst>
      <p:ext uri="{BB962C8B-B14F-4D97-AF65-F5344CB8AC3E}">
        <p14:creationId xmlns:p14="http://schemas.microsoft.com/office/powerpoint/2010/main" val="1074834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B8C69506-E1A1-0165-DE1B-FAFE638D2DA5}"/>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339F469D-0185-73C1-4B2B-16DAA0BF9421}"/>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193B9B94-A108-9D1A-143B-937DA56157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a:extLst>
                <a:ext uri="{FF2B5EF4-FFF2-40B4-BE49-F238E27FC236}">
                  <a16:creationId xmlns:a16="http://schemas.microsoft.com/office/drawing/2014/main" id="{A8336391-0B36-D648-07B2-048D87FC979C}"/>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57A16148-0AC8-C1AF-0103-934DF423612B}"/>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a:extLst>
              <a:ext uri="{FF2B5EF4-FFF2-40B4-BE49-F238E27FC236}">
                <a16:creationId xmlns:a16="http://schemas.microsoft.com/office/drawing/2014/main" id="{719C421B-F39B-7447-6B04-609BAB808018}"/>
              </a:ext>
            </a:extLst>
          </p:cNvPr>
          <p:cNvSpPr txBox="1"/>
          <p:nvPr/>
        </p:nvSpPr>
        <p:spPr>
          <a:xfrm>
            <a:off x="1600200" y="836994"/>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Result Analysis</a:t>
            </a:r>
          </a:p>
        </p:txBody>
      </p:sp>
      <p:pic>
        <p:nvPicPr>
          <p:cNvPr id="4" name="Picture 3" descr="A table with numbers and text&#10;&#10;Description automatically generated">
            <a:extLst>
              <a:ext uri="{FF2B5EF4-FFF2-40B4-BE49-F238E27FC236}">
                <a16:creationId xmlns:a16="http://schemas.microsoft.com/office/drawing/2014/main" id="{2F775253-30F4-08C5-4A16-217C7F8392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9200" y="2487210"/>
            <a:ext cx="16177856" cy="4849568"/>
          </a:xfrm>
          <a:prstGeom prst="rect">
            <a:avLst/>
          </a:prstGeom>
        </p:spPr>
      </p:pic>
    </p:spTree>
    <p:extLst>
      <p:ext uri="{BB962C8B-B14F-4D97-AF65-F5344CB8AC3E}">
        <p14:creationId xmlns:p14="http://schemas.microsoft.com/office/powerpoint/2010/main" val="2414072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F8827BE7-8894-6535-53ED-551EE0A19A43}"/>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D1AC49DD-37B6-348E-4A58-F8328917239F}"/>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023E1A3E-8F2C-5590-07BF-330D24E3EC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a:extLst>
                <a:ext uri="{FF2B5EF4-FFF2-40B4-BE49-F238E27FC236}">
                  <a16:creationId xmlns:a16="http://schemas.microsoft.com/office/drawing/2014/main" id="{D1907CA9-3118-D7F1-6B71-881F7D866C4D}"/>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E7AA423E-F449-C3AC-6294-6DF4165F1EB3}"/>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a:extLst>
              <a:ext uri="{FF2B5EF4-FFF2-40B4-BE49-F238E27FC236}">
                <a16:creationId xmlns:a16="http://schemas.microsoft.com/office/drawing/2014/main" id="{518E5D8E-4712-1400-B640-DAC39B874C03}"/>
              </a:ext>
            </a:extLst>
          </p:cNvPr>
          <p:cNvSpPr txBox="1"/>
          <p:nvPr/>
        </p:nvSpPr>
        <p:spPr>
          <a:xfrm>
            <a:off x="2094380" y="1154819"/>
            <a:ext cx="12230100" cy="12253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Result</a:t>
            </a:r>
            <a:r>
              <a:rPr lang="en-US" sz="6000" dirty="0">
                <a:solidFill>
                  <a:srgbClr val="272727"/>
                </a:solidFill>
                <a:latin typeface="League Spartan"/>
                <a:ea typeface="League Spartan"/>
                <a:cs typeface="League Spartan"/>
                <a:sym typeface="League Spartan"/>
              </a:rPr>
              <a:t> Analysis</a:t>
            </a:r>
          </a:p>
        </p:txBody>
      </p:sp>
      <p:pic>
        <p:nvPicPr>
          <p:cNvPr id="3" name="Picture 2" descr="A table with numbers and a few percentages&#10;&#10;Description automatically generated">
            <a:extLst>
              <a:ext uri="{FF2B5EF4-FFF2-40B4-BE49-F238E27FC236}">
                <a16:creationId xmlns:a16="http://schemas.microsoft.com/office/drawing/2014/main" id="{05758C82-8D2D-4D41-10AB-F8084A872B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62206" y="2776532"/>
            <a:ext cx="15395613" cy="5229388"/>
          </a:xfrm>
          <a:prstGeom prst="rect">
            <a:avLst/>
          </a:prstGeom>
        </p:spPr>
      </p:pic>
    </p:spTree>
    <p:extLst>
      <p:ext uri="{BB962C8B-B14F-4D97-AF65-F5344CB8AC3E}">
        <p14:creationId xmlns:p14="http://schemas.microsoft.com/office/powerpoint/2010/main" val="4085315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B3C49-09E1-ACAD-2E96-3225CFE9A89B}"/>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A426B936-3212-3846-76CB-154B26D8B949}"/>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DC673A2D-A592-84D6-094C-A2A696FB24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6" name="TextBox 16">
              <a:extLst>
                <a:ext uri="{FF2B5EF4-FFF2-40B4-BE49-F238E27FC236}">
                  <a16:creationId xmlns:a16="http://schemas.microsoft.com/office/drawing/2014/main" id="{0887EDB4-5EA2-4D11-778F-5EE660986AD2}"/>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74728C5B-DB9B-6839-EEF9-6148202A3C10}"/>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a:extLst>
              <a:ext uri="{FF2B5EF4-FFF2-40B4-BE49-F238E27FC236}">
                <a16:creationId xmlns:a16="http://schemas.microsoft.com/office/drawing/2014/main" id="{C9547569-6A63-9E81-5FED-E3D3DE735E99}"/>
              </a:ext>
            </a:extLst>
          </p:cNvPr>
          <p:cNvSpPr txBox="1"/>
          <p:nvPr/>
        </p:nvSpPr>
        <p:spPr>
          <a:xfrm>
            <a:off x="2109620" y="1112883"/>
            <a:ext cx="12230100" cy="2497479"/>
          </a:xfrm>
          <a:prstGeom prst="rect">
            <a:avLst/>
          </a:prstGeom>
        </p:spPr>
        <p:txBody>
          <a:bodyPr wrap="square" lIns="0" tIns="0" rIns="0" bIns="0" rtlCol="0" anchor="t">
            <a:spAutoFit/>
          </a:bodyPr>
          <a:lstStyle/>
          <a:p>
            <a:pPr>
              <a:lnSpc>
                <a:spcPts val="10080"/>
              </a:lnSpc>
            </a:pPr>
            <a:r>
              <a:rPr lang="en-US" sz="6000" b="1" dirty="0">
                <a:solidFill>
                  <a:srgbClr val="000000"/>
                </a:solidFill>
                <a:latin typeface="Segoe UI Black" panose="020B0A02040204020203" pitchFamily="34" charset="0"/>
                <a:ea typeface="Segoe UI Black" panose="020B0A02040204020203" pitchFamily="34" charset="0"/>
                <a:cs typeface="Poppins Bold"/>
                <a:sym typeface="Poppins Bold"/>
              </a:rPr>
              <a:t>Challenges and Limitations:</a:t>
            </a:r>
          </a:p>
          <a:p>
            <a:pPr algn="l">
              <a:lnSpc>
                <a:spcPts val="10080"/>
              </a:lnSpc>
            </a:pPr>
            <a:endPar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endParaRPr>
          </a:p>
        </p:txBody>
      </p:sp>
      <p:sp>
        <p:nvSpPr>
          <p:cNvPr id="2" name="TextBox 1">
            <a:extLst>
              <a:ext uri="{FF2B5EF4-FFF2-40B4-BE49-F238E27FC236}">
                <a16:creationId xmlns:a16="http://schemas.microsoft.com/office/drawing/2014/main" id="{AC59660C-E239-E072-D3D7-4099155F952D}"/>
              </a:ext>
            </a:extLst>
          </p:cNvPr>
          <p:cNvSpPr txBox="1"/>
          <p:nvPr/>
        </p:nvSpPr>
        <p:spPr>
          <a:xfrm>
            <a:off x="2368462" y="2487210"/>
            <a:ext cx="13835230" cy="6370975"/>
          </a:xfrm>
          <a:prstGeom prst="rect">
            <a:avLst/>
          </a:prstGeom>
          <a:noFill/>
        </p:spPr>
        <p:txBody>
          <a:bodyPr wrap="square" rtlCol="0">
            <a:spAutoFit/>
          </a:bodyPr>
          <a:lstStyle/>
          <a:p>
            <a:pPr marL="457200" indent="-457200" algn="just">
              <a:buFont typeface="Arial" panose="020B0604020202020204" pitchFamily="34" charset="0"/>
              <a:buChar char="•"/>
            </a:pPr>
            <a:r>
              <a:rPr lang="en-US" sz="3400" b="1" dirty="0"/>
              <a:t>Data Imbalance:</a:t>
            </a:r>
            <a:r>
              <a:rPr lang="en-US" sz="3400" dirty="0"/>
              <a:t> More positive reviews than negative and neutral reviews affect model accuracy.</a:t>
            </a:r>
          </a:p>
          <a:p>
            <a:pPr marL="457200" indent="-457200" algn="just">
              <a:buFont typeface="Arial" panose="020B0604020202020204" pitchFamily="34" charset="0"/>
              <a:buChar char="•"/>
            </a:pPr>
            <a:endParaRPr lang="en-US" sz="3400" dirty="0"/>
          </a:p>
          <a:p>
            <a:pPr marL="457200" indent="-457200" algn="just">
              <a:buFont typeface="Arial" panose="020B0604020202020204" pitchFamily="34" charset="0"/>
              <a:buChar char="•"/>
            </a:pPr>
            <a:r>
              <a:rPr lang="en-US" sz="3400" b="1" dirty="0"/>
              <a:t>Language Complexity:</a:t>
            </a:r>
            <a:r>
              <a:rPr lang="en-US" sz="3400" dirty="0"/>
              <a:t> Bengali’s complex grammar, sarcasm, and cultural nuances make sentiment analysis difficult.</a:t>
            </a:r>
          </a:p>
          <a:p>
            <a:pPr marL="457200" indent="-457200" algn="just">
              <a:buFont typeface="Arial" panose="020B0604020202020204" pitchFamily="34" charset="0"/>
              <a:buChar char="•"/>
            </a:pPr>
            <a:endParaRPr lang="en-US" sz="3400" dirty="0"/>
          </a:p>
          <a:p>
            <a:pPr marL="457200" indent="-457200" algn="just">
              <a:buFont typeface="Arial" panose="020B0604020202020204" pitchFamily="34" charset="0"/>
              <a:buChar char="•"/>
            </a:pPr>
            <a:r>
              <a:rPr lang="en-US" sz="3400" dirty="0"/>
              <a:t> </a:t>
            </a:r>
            <a:r>
              <a:rPr lang="en-US" sz="3400" b="1" dirty="0"/>
              <a:t>Computational Cost:</a:t>
            </a:r>
            <a:r>
              <a:rPr lang="en-US" sz="3400" dirty="0"/>
              <a:t> Transformer models need high processing power.</a:t>
            </a:r>
          </a:p>
          <a:p>
            <a:pPr algn="just"/>
            <a:endParaRPr lang="en-US" sz="3400" dirty="0"/>
          </a:p>
          <a:p>
            <a:pPr marL="457200" indent="-457200" algn="just">
              <a:buFont typeface="Arial" panose="020B0604020202020204" pitchFamily="34" charset="0"/>
              <a:buChar char="•"/>
            </a:pPr>
            <a:r>
              <a:rPr lang="en-US" sz="3400" b="1" dirty="0"/>
              <a:t>Model Overfitting:</a:t>
            </a:r>
            <a:r>
              <a:rPr lang="en-US" sz="3400" dirty="0"/>
              <a:t> Overfitting risk due to limited diversity in the dataset. </a:t>
            </a:r>
          </a:p>
          <a:p>
            <a:pPr algn="just"/>
            <a:endParaRPr lang="en-US" sz="3400" dirty="0"/>
          </a:p>
          <a:p>
            <a:pPr marL="457200" indent="-457200" algn="just">
              <a:buFont typeface="Arial" panose="020B0604020202020204" pitchFamily="34" charset="0"/>
              <a:buChar char="•"/>
            </a:pPr>
            <a:r>
              <a:rPr lang="en-US" sz="3400" b="1" dirty="0"/>
              <a:t>Performance:</a:t>
            </a:r>
            <a:r>
              <a:rPr lang="en-US" sz="3400" dirty="0"/>
              <a:t> Initially on preprocessed dataset the performance of the models were poor.</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76890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70" name="TextBox 70"/>
          <p:cNvSpPr txBox="1"/>
          <p:nvPr/>
        </p:nvSpPr>
        <p:spPr>
          <a:xfrm>
            <a:off x="3581400" y="1409700"/>
            <a:ext cx="10812532" cy="1226820"/>
          </a:xfrm>
          <a:prstGeom prst="rect">
            <a:avLst/>
          </a:prstGeom>
        </p:spPr>
        <p:txBody>
          <a:bodyPr lIns="0" tIns="0" rIns="0" bIns="0" rtlCol="0" anchor="t">
            <a:spAutoFit/>
          </a:bodyPr>
          <a:lstStyle/>
          <a:p>
            <a:pPr marL="0" lvl="0" indent="0" algn="ctr">
              <a:lnSpc>
                <a:spcPts val="10080"/>
              </a:lnSpc>
              <a:spcBef>
                <a:spcPct val="0"/>
              </a:spcBef>
            </a:pPr>
            <a:r>
              <a:rPr lang="en-US" sz="7200" b="1" dirty="0">
                <a:solidFill>
                  <a:srgbClr val="272727"/>
                </a:solidFill>
                <a:latin typeface="Segoe UI Black" panose="020B0A02040204020203" pitchFamily="34" charset="0"/>
                <a:ea typeface="Segoe UI Black" panose="020B0A02040204020203" pitchFamily="34" charset="0"/>
                <a:cs typeface="Open Sans Bold"/>
                <a:sym typeface="Open Sans Bold"/>
              </a:rPr>
              <a:t>Conclusion</a:t>
            </a:r>
          </a:p>
        </p:txBody>
      </p:sp>
      <p:sp>
        <p:nvSpPr>
          <p:cNvPr id="80" name="TextBox 79">
            <a:extLst>
              <a:ext uri="{FF2B5EF4-FFF2-40B4-BE49-F238E27FC236}">
                <a16:creationId xmlns:a16="http://schemas.microsoft.com/office/drawing/2014/main" id="{DA4B8E16-A577-DC92-D0EE-C42DCE040F4E}"/>
              </a:ext>
            </a:extLst>
          </p:cNvPr>
          <p:cNvSpPr txBox="1"/>
          <p:nvPr/>
        </p:nvSpPr>
        <p:spPr>
          <a:xfrm>
            <a:off x="4038600" y="3543300"/>
            <a:ext cx="11590268" cy="2464777"/>
          </a:xfrm>
          <a:prstGeom prst="rect">
            <a:avLst/>
          </a:prstGeom>
          <a:noFill/>
        </p:spPr>
        <p:txBody>
          <a:bodyPr wrap="square">
            <a:spAutoFit/>
          </a:bodyPr>
          <a:lstStyle/>
          <a:p>
            <a:pPr marL="0" lvl="0" indent="0" algn="just">
              <a:lnSpc>
                <a:spcPts val="3739"/>
              </a:lnSpc>
            </a:pPr>
            <a:r>
              <a:rPr lang="en-US" sz="3400" dirty="0">
                <a:latin typeface="Calibri" panose="020F0502020204030204" pitchFamily="34" charset="0"/>
                <a:ea typeface="Open Sans" panose="020B0606030504020204" pitchFamily="34" charset="0"/>
                <a:cs typeface="Calibri" panose="020F0502020204030204" pitchFamily="34" charset="0"/>
              </a:rPr>
              <a:t>Our research shows that transformer-based models, particularly </a:t>
            </a:r>
            <a:r>
              <a:rPr lang="en-US" sz="3400" dirty="0" err="1">
                <a:latin typeface="Calibri" panose="020F0502020204030204" pitchFamily="34" charset="0"/>
                <a:cs typeface="Calibri" panose="020F0502020204030204" pitchFamily="34" charset="0"/>
              </a:rPr>
              <a:t>mBERT</a:t>
            </a:r>
            <a:r>
              <a:rPr lang="en-US" sz="3400" dirty="0">
                <a:latin typeface="Calibri" panose="020F0502020204030204" pitchFamily="34" charset="0"/>
                <a:cs typeface="Calibri" panose="020F0502020204030204" pitchFamily="34" charset="0"/>
              </a:rPr>
              <a:t> (Cased) and </a:t>
            </a:r>
            <a:r>
              <a:rPr lang="en-US" sz="3400" dirty="0" err="1">
                <a:latin typeface="Calibri" panose="020F0502020204030204" pitchFamily="34" charset="0"/>
                <a:cs typeface="Calibri" panose="020F0502020204030204" pitchFamily="34" charset="0"/>
              </a:rPr>
              <a:t>BanglaBERT</a:t>
            </a:r>
            <a:r>
              <a:rPr lang="en-US" sz="3400" dirty="0">
                <a:latin typeface="Calibri" panose="020F0502020204030204" pitchFamily="34" charset="0"/>
                <a:cs typeface="Calibri" panose="020F0502020204030204" pitchFamily="34" charset="0"/>
              </a:rPr>
              <a:t> showed the best performance with high accuracy and low validation loss. XLM-</a:t>
            </a:r>
            <a:r>
              <a:rPr lang="en-US" sz="3400" dirty="0" err="1">
                <a:latin typeface="Calibri" panose="020F0502020204030204" pitchFamily="34" charset="0"/>
                <a:cs typeface="Calibri" panose="020F0502020204030204" pitchFamily="34" charset="0"/>
              </a:rPr>
              <a:t>RoBERTa</a:t>
            </a:r>
            <a:r>
              <a:rPr lang="en-US" sz="3400" dirty="0">
                <a:latin typeface="Calibri" panose="020F0502020204030204" pitchFamily="34" charset="0"/>
                <a:cs typeface="Calibri" panose="020F0502020204030204" pitchFamily="34" charset="0"/>
              </a:rPr>
              <a:t> also performed well, proving that both language-specific and multilingual models can handle Bengali sentiment analysis.</a:t>
            </a:r>
            <a:endParaRPr lang="en-US" sz="3400" dirty="0">
              <a:solidFill>
                <a:srgbClr val="272727"/>
              </a:solidFill>
              <a:latin typeface="Calibri" panose="020F0502020204030204" pitchFamily="34" charset="0"/>
              <a:ea typeface="Open Sans" panose="020B0606030504020204" pitchFamily="34" charset="0"/>
              <a:cs typeface="Calibri" panose="020F0502020204030204" pitchFamily="34" charset="0"/>
              <a:sym typeface="Open Sans"/>
            </a:endParaRPr>
          </a:p>
        </p:txBody>
      </p:sp>
      <p:sp>
        <p:nvSpPr>
          <p:cNvPr id="83" name="AutoShape 10">
            <a:extLst>
              <a:ext uri="{FF2B5EF4-FFF2-40B4-BE49-F238E27FC236}">
                <a16:creationId xmlns:a16="http://schemas.microsoft.com/office/drawing/2014/main" id="{42CE552C-E7BF-823D-E78C-54C131A70A05}"/>
              </a:ext>
            </a:extLst>
          </p:cNvPr>
          <p:cNvSpPr/>
          <p:nvPr/>
        </p:nvSpPr>
        <p:spPr>
          <a:xfrm flipV="1">
            <a:off x="5257800" y="2674620"/>
            <a:ext cx="7924800" cy="35560"/>
          </a:xfrm>
          <a:prstGeom prst="line">
            <a:avLst/>
          </a:prstGeom>
          <a:ln w="19050" cap="flat">
            <a:solidFill>
              <a:srgbClr val="7C7C7C"/>
            </a:solidFill>
            <a:prstDash val="solid"/>
            <a:headEnd type="none" w="sm" len="sm"/>
            <a:tailEnd type="none" w="sm" len="sm"/>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2954657" y="4400273"/>
            <a:ext cx="12378687" cy="1964512"/>
          </a:xfrm>
          <a:prstGeom prst="rect">
            <a:avLst/>
          </a:prstGeom>
        </p:spPr>
        <p:txBody>
          <a:bodyPr lIns="0" tIns="0" rIns="0" bIns="0" rtlCol="0" anchor="t">
            <a:spAutoFit/>
          </a:bodyPr>
          <a:lstStyle/>
          <a:p>
            <a:pPr marL="0" lvl="0" indent="0" algn="ctr">
              <a:lnSpc>
                <a:spcPts val="16810"/>
              </a:lnSpc>
            </a:pPr>
            <a:r>
              <a:rPr lang="en-US" sz="12007" dirty="0">
                <a:solidFill>
                  <a:srgbClr val="2159FF"/>
                </a:solidFill>
                <a:latin typeface="Segoe UI Black" panose="020B0A02040204020203" pitchFamily="34" charset="0"/>
                <a:ea typeface="Segoe UI Black" panose="020B0A02040204020203" pitchFamily="34" charset="0"/>
                <a:cs typeface="League Spartan"/>
                <a:sym typeface="League Spartan"/>
              </a:rPr>
              <a:t>Thank You</a:t>
            </a:r>
          </a:p>
        </p:txBody>
      </p:sp>
      <p:sp>
        <p:nvSpPr>
          <p:cNvPr id="6" name="Freeform 6"/>
          <p:cNvSpPr/>
          <p:nvPr/>
        </p:nvSpPr>
        <p:spPr>
          <a:xfrm flipH="1" flipV="1">
            <a:off x="12755300" y="567698"/>
            <a:ext cx="5062925" cy="6212178"/>
          </a:xfrm>
          <a:custGeom>
            <a:avLst/>
            <a:gdLst/>
            <a:ahLst/>
            <a:cxnLst/>
            <a:rect l="l" t="t" r="r" b="b"/>
            <a:pathLst>
              <a:path w="5062925" h="6212178">
                <a:moveTo>
                  <a:pt x="5062925" y="6212178"/>
                </a:moveTo>
                <a:lnTo>
                  <a:pt x="0" y="6212178"/>
                </a:lnTo>
                <a:lnTo>
                  <a:pt x="0" y="0"/>
                </a:lnTo>
                <a:lnTo>
                  <a:pt x="5062925" y="0"/>
                </a:lnTo>
                <a:lnTo>
                  <a:pt x="5062925" y="621217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0" y="8657159"/>
            <a:ext cx="4953776" cy="1620297"/>
          </a:xfrm>
          <a:custGeom>
            <a:avLst/>
            <a:gdLst/>
            <a:ahLst/>
            <a:cxnLst/>
            <a:rect l="l" t="t" r="r" b="b"/>
            <a:pathLst>
              <a:path w="4953776" h="1620297">
                <a:moveTo>
                  <a:pt x="0" y="0"/>
                </a:moveTo>
                <a:lnTo>
                  <a:pt x="4953776" y="0"/>
                </a:lnTo>
                <a:lnTo>
                  <a:pt x="4953776" y="1620297"/>
                </a:lnTo>
                <a:lnTo>
                  <a:pt x="0" y="16202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8" name="Group 8"/>
          <p:cNvGrpSpPr/>
          <p:nvPr/>
        </p:nvGrpSpPr>
        <p:grpSpPr>
          <a:xfrm>
            <a:off x="15891973" y="7924258"/>
            <a:ext cx="3086100" cy="308610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1D3A"/>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grpSp>
        <p:nvGrpSpPr>
          <p:cNvPr id="11" name="Group 11"/>
          <p:cNvGrpSpPr/>
          <p:nvPr/>
        </p:nvGrpSpPr>
        <p:grpSpPr>
          <a:xfrm>
            <a:off x="-560090" y="-449186"/>
            <a:ext cx="3873733" cy="38737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txBody>
            <a:bodyPr/>
            <a:lstStyle/>
            <a:p>
              <a:endParaRPr lang="en-US"/>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TotalTime>
  <Words>1061</Words>
  <Application>Microsoft Macintosh PowerPoint</Application>
  <PresentationFormat>Custom</PresentationFormat>
  <Paragraphs>126</Paragraphs>
  <Slides>16</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Open Sans Bold</vt:lpstr>
      <vt:lpstr>Calibri</vt:lpstr>
      <vt:lpstr>Open Sans</vt:lpstr>
      <vt:lpstr>Segoe UI Black</vt:lpstr>
      <vt:lpstr>Poppins</vt:lpstr>
      <vt:lpstr>Arial</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Modern Product Research Proposal Presentation</dc:title>
  <dc:creator>Sanjana Akhter</dc:creator>
  <cp:lastModifiedBy>Nayrit</cp:lastModifiedBy>
  <cp:revision>40</cp:revision>
  <dcterms:created xsi:type="dcterms:W3CDTF">2006-08-16T00:00:00Z</dcterms:created>
  <dcterms:modified xsi:type="dcterms:W3CDTF">2025-03-12T20:09:05Z</dcterms:modified>
  <dc:identifier>DAGhVvk87TY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2025-03-12T19:36:59Z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78788f94-adfb-431b-9311-77cb54ffe460</vt:lpwstr>
  </property>
  <property fmtid="{D5CDD505-2E9C-101B-9397-08002B2CF9AE}" pid="7" name="MSIP_Label_defa4170-0d19-0005-0004-bc88714345d2_ActionId">
    <vt:lpwstr>d561b486-0c55-4a45-b057-c1646c9e7247</vt:lpwstr>
  </property>
  <property fmtid="{D5CDD505-2E9C-101B-9397-08002B2CF9AE}" pid="8" name="MSIP_Label_defa4170-0d19-0005-0004-bc88714345d2_ContentBits">
    <vt:lpwstr>0</vt:lpwstr>
  </property>
</Properties>
</file>